
<file path=[Content_Types].xml><?xml version="1.0" encoding="utf-8"?>
<Types xmlns="http://schemas.openxmlformats.org/package/2006/content-types">
  <Default Extension="xml" ContentType="application/vnd.openxmlformats-officedocument.presentationml.presentation.main+xml"/>
  <Default Extension="bin" ContentType="application/vnd.openxmlformats-officedocument.spreadsheetml.sheet"/>
  <Default Extension="rels" ContentType="application/vnd.openxmlformats-package.relationships+xml"/>
  <Override PartName="/ppt/slideMasters/slideMaster1.xml" ContentType="application/vnd.openxmlformats-officedocument.presentationml.slideMaster+xml"/>
  <Override PartName="/ppt/slideLayouts/slideLayout1.xml" ContentType="application/vnd.openxmlformats-officedocument.presentationml.slideLayout+xml"/>
  <Override PartName="/ppt/slideMasters/theme/theme1.xml" ContentType="application/vnd.openxmlformats-officedocument.theme+xml"/>
  <Override PartName="/ppt/notesMasters/notesMaster1.xml" ContentType="application/vnd.openxmlformats-officedocument.presentationml.notes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charts/chart1.xml" ContentType="application/vnd.openxmlformats-officedocument.drawingml.chart+xml"/>
  <Override PartName="/ppt/slides/slide7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notesSlides/notesSlide2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officeDocument/2006/relationships/officeDocument" Target="/ppt/presentation.xml" Id="R997f3aebf2e24aee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7e88e1d3d47a4867"/>
  </p:sldMasterIdLst>
  <p:notesMasterIdLst>
    <p:notesMasterId xmlns:r="http://schemas.openxmlformats.org/officeDocument/2006/relationships" r:id="R15fe00fbdfc94123"/>
  </p:notesMasterIdLst>
  <p:sldIdLst>
    <p:sldId xmlns:r="http://schemas.openxmlformats.org/officeDocument/2006/relationships" id="256" r:id="R43965edf7cc240bb"/>
    <p:sldId xmlns:r="http://schemas.openxmlformats.org/officeDocument/2006/relationships" id="257" r:id="Rbd320d35612142c1"/>
    <p:sldId xmlns:r="http://schemas.openxmlformats.org/officeDocument/2006/relationships" id="258" r:id="R27bd810ce3804612"/>
    <p:sldId xmlns:r="http://schemas.openxmlformats.org/officeDocument/2006/relationships" id="259" r:id="R2c1f48a3bbff47f2"/>
    <p:sldId xmlns:r="http://schemas.openxmlformats.org/officeDocument/2006/relationships" id="260" r:id="R901835c81e854f97"/>
    <p:sldId xmlns:r="http://schemas.openxmlformats.org/officeDocument/2006/relationships" id="261" r:id="Ra2a9c82d1234496d"/>
    <p:sldId xmlns:r="http://schemas.openxmlformats.org/officeDocument/2006/relationships" id="262" r:id="R8091517667ac4602"/>
    <p:sldId xmlns:r="http://schemas.openxmlformats.org/officeDocument/2006/relationships" id="263" r:id="R37c16b2e64914014"/>
    <p:sldId xmlns:r="http://schemas.openxmlformats.org/officeDocument/2006/relationships" id="264" r:id="R1acb009b59b44233"/>
  </p:sldIdLst>
  <p:sldSz cx="9144000" cy="6858000" type="screen4x3"/>
  <p:notesSz cx="6858000" cy="9144000"/>
  <p:defaultTextStyle/>
</p:presentation>
</file>

<file path=ppt/_rels/presentation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7e88e1d3d47a4867" /><Relationship Type="http://schemas.openxmlformats.org/officeDocument/2006/relationships/notesMaster" Target="/ppt/notesMasters/notesMaster1.xml" Id="R15fe00fbdfc94123" /><Relationship Type="http://schemas.openxmlformats.org/officeDocument/2006/relationships/slide" Target="/ppt/slides/slide1.xml" Id="R43965edf7cc240bb" /><Relationship Type="http://schemas.openxmlformats.org/officeDocument/2006/relationships/slide" Target="/ppt/slides/slide2.xml" Id="Rbd320d35612142c1" /><Relationship Type="http://schemas.openxmlformats.org/officeDocument/2006/relationships/slide" Target="/ppt/slides/slide3.xml" Id="R27bd810ce3804612" /><Relationship Type="http://schemas.openxmlformats.org/officeDocument/2006/relationships/slide" Target="/ppt/slides/slide4.xml" Id="R2c1f48a3bbff47f2" /><Relationship Type="http://schemas.openxmlformats.org/officeDocument/2006/relationships/slide" Target="/ppt/slides/slide5.xml" Id="R901835c81e854f97" /><Relationship Type="http://schemas.openxmlformats.org/officeDocument/2006/relationships/slide" Target="/ppt/slides/slide6.xml" Id="Ra2a9c82d1234496d" /><Relationship Type="http://schemas.openxmlformats.org/officeDocument/2006/relationships/slide" Target="/ppt/slides/slide7.xml" Id="R8091517667ac4602" /><Relationship Type="http://schemas.openxmlformats.org/officeDocument/2006/relationships/slide" Target="/ppt/slides/slide8.xml" Id="R37c16b2e64914014" /><Relationship Type="http://schemas.openxmlformats.org/officeDocument/2006/relationships/slide" Target="/ppt/slides/slide9.xml" Id="R1acb009b59b44233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slideMasters/theme/theme1.xml" Id="Rf9d8c245c3af48cd" /></Relationships>
</file>

<file path=ppt/notesMasters/notesMaster1.xml><?xml version="1.0" encoding="utf-8"?>
<p:notesMaster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 1"/>
          <p:cNvSpPr>
            <a:spLocks xmlns:a="http://schemas.openxmlformats.org/drawingml/2006/main" noGrp="1"/>
          </p:cNvSpPr>
          <p:nvPr>
            <p:ph type="hdr"/>
          </p:nvPr>
        </p:nvSpPr>
        <p:spPr>
          <a:xfrm xmlns:a="http://schemas.openxmlformats.org/drawingml/2006/main">
            <a:off x="0" y="0"/>
            <a:ext cx="6858000" cy="457200"/>
          </a:xfrm>
          <a:prstGeom xmlns:a="http://schemas.openxmlformats.org/drawingml/2006/main" prst="rect"/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 lang="fr-FR"/>
          </a:p>
        </p:txBody>
      </p:sp>
      <p:sp>
        <p:nvSpPr>
          <p:cNvPr id="3" name="Date Placeholder 2"/>
          <p:cNvSpPr>
            <a:spLocks xmlns:a="http://schemas.openxmlformats.org/drawingml/2006/main" noGrp="1"/>
          </p:cNvSpPr>
          <p:nvPr>
            <p:ph type="dt"/>
          </p:nvPr>
        </p:nvSpPr>
        <p:spPr>
          <a:xfrm xmlns:a="http://schemas.openxmlformats.org/drawingml/2006/main">
            <a:off x="3429000" y="0"/>
            <a:ext cx="3429000" cy="457200"/>
          </a:xfrm>
          <a:prstGeom xmlns:a="http://schemas.openxmlformats.org/drawingml/2006/main" prst="rect"/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 lang="fr-FR"/>
          </a:p>
        </p:txBody>
      </p:sp>
      <p:sp>
        <p:nvSpPr>
          <p:cNvPr id="4" name="Slide Image Placeholder 3"/>
          <p:cNvSpPr>
            <a:spLocks xmlns:a="http://schemas.openxmlformats.org/drawingml/2006/main" noGrp="1" noRot="1"/>
          </p:cNvSpPr>
          <p:nvPr>
            <p:ph type="sldImg" idx="1"/>
          </p:nvPr>
        </p:nvSpPr>
        <p:spPr>
          <a:xfrm xmlns:a="http://schemas.openxmlformats.org/drawingml/2006/main">
            <a:off x="685800" y="457200"/>
            <a:ext cx="5486400" cy="3886200"/>
          </a:xfrm>
          <a:prstGeom xmlns:a="http://schemas.openxmlformats.org/drawingml/2006/main" prst="rect"/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 4"/>
          <p:cNvSpPr>
            <a:spLocks xmlns:a="http://schemas.openxmlformats.org/drawingml/2006/main" noGrp="1"/>
          </p:cNvSpPr>
          <p:nvPr>
            <p:ph type="body" idx="2"/>
          </p:nvPr>
        </p:nvSpPr>
        <p:spPr>
          <a:xfrm xmlns:a="http://schemas.openxmlformats.org/drawingml/2006/main">
            <a:off x="685800" y="4343400"/>
            <a:ext cx="5486400" cy="4114800"/>
          </a:xfrm>
          <a:prstGeom xmlns:a="http://schemas.openxmlformats.org/drawingml/2006/main" prst="rect"/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 lang="fr-FR"/>
          </a:p>
        </p:txBody>
      </p:sp>
      <p:sp>
        <p:nvSpPr>
          <p:cNvPr id="6" name="Footer Placeholder 5"/>
          <p:cNvSpPr>
            <a:spLocks xmlns:a="http://schemas.openxmlformats.org/drawingml/2006/main" noGrp="1"/>
          </p:cNvSpPr>
          <p:nvPr>
            <p:ph type="ftr"/>
          </p:nvPr>
        </p:nvSpPr>
        <p:spPr>
          <a:xfrm xmlns:a="http://schemas.openxmlformats.org/drawingml/2006/main">
            <a:off x="0" y="8686800"/>
            <a:ext cx="6858000" cy="457200"/>
          </a:xfrm>
          <a:prstGeom xmlns:a="http://schemas.openxmlformats.org/drawingml/2006/main" prst="rect"/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 lang="fr-FR"/>
          </a:p>
        </p:txBody>
      </p:sp>
      <p:sp>
        <p:nvSpPr>
          <p:cNvPr id="7" name="Slide Number Placeholder 6"/>
          <p:cNvSpPr>
            <a:spLocks xmlns:a="http://schemas.openxmlformats.org/drawingml/2006/main" noGrp="1"/>
          </p:cNvSpPr>
          <p:nvPr>
            <p:ph type="sldNum"/>
          </p:nvPr>
        </p:nvSpPr>
        <p:spPr>
          <a:xfrm xmlns:a="http://schemas.openxmlformats.org/drawingml/2006/main">
            <a:off x="3429000" y="8686800"/>
            <a:ext cx="3429000" cy="457200"/>
          </a:xfrm>
          <a:prstGeom xmlns:a="http://schemas.openxmlformats.org/drawingml/2006/main" prst="rect"/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 lang="fr-FR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indent="0" algn="l">
      <a:defRPr sz="1200"/>
    </a:lvl1pPr>
    <a:lvl2pPr xmlns:a="http://schemas.openxmlformats.org/drawingml/2006/main" marL="457200" indent="0">
      <a:defRPr sz="1200"/>
    </a:lvl2pPr>
    <a:lvl3pPr xmlns:a="http://schemas.openxmlformats.org/drawingml/2006/main" marL="914400" indent="0">
      <a:defRPr sz="1200"/>
    </a:lvl3pPr>
    <a:lvl4pPr xmlns:a="http://schemas.openxmlformats.org/drawingml/2006/main" marL="1371600" indent="0">
      <a:defRPr sz="1200"/>
    </a:lvl4pPr>
    <a:lvl5pPr xmlns:a="http://schemas.openxmlformats.org/drawingml/2006/main" marL="1828800" indent="0">
      <a:defRPr sz="1200"/>
    </a:lvl5pPr>
    <a:lvl6pPr xmlns:a="http://schemas.openxmlformats.org/drawingml/2006/main" marL="2286000" indent="0">
      <a:defRPr sz="1200"/>
    </a:lvl6pPr>
    <a:lvl7pPr xmlns:a="http://schemas.openxmlformats.org/drawingml/2006/main" marL="2743200" indent="0">
      <a:defRPr sz="1200"/>
    </a:lvl7pPr>
    <a:lvl8pPr xmlns:a="http://schemas.openxmlformats.org/drawingml/2006/main" marL="3200400" indent="0">
      <a:defRPr sz="1200"/>
    </a:lvl8pPr>
    <a:lvl9pPr xmlns:a="http://schemas.openxmlformats.org/drawingml/2006/main" marL="3657600" indent="0">
      <a:defRPr sz="1200"/>
    </a:lvl9pPr>
  </p:notesStyle>
</p:notesMaster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notesMaster" Target="/ppt/notesMasters/notesMaster1.xml" Id="Rd7310621b83e4612" /><Relationship Type="http://schemas.openxmlformats.org/officeDocument/2006/relationships/slide" Target="/ppt/slides/slide7.xml" Id="R0096288290eb4771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notesMaster" Target="/ppt/notesMasters/notesMaster1.xml" Id="Reaffdb33f9824186" /><Relationship Type="http://schemas.openxmlformats.org/officeDocument/2006/relationships/slide" Target="/ppt/slides/slide9.xml" Id="R8368cab94167454a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28" name="NotesPlaceholder"/>
          <p:cNvSpPr>
            <a:spLocks xmlns:a="http://schemas.openxmlformats.org/drawingml/2006/main" noGrp="1"/>
          </p:cNvSpPr>
          <p:nvPr>
            <p:ph type="body" idx="2"/>
          </p:nvPr>
        </p:nvSpPr>
        <p:spPr>
          <a:xfrm xmlns:a="http://schemas.openxmlformats.org/drawingml/2006/main">
            <a:off x="457200" y="457200"/>
            <a:ext cx="8229600" cy="5943600"/>
          </a:xfrm>
          <a:prstGeom xmlns:a="http://schemas.openxmlformats.org/drawingml/2006/main" prst="rect"/>
        </p:spPr>
        <p:txBody>
          <a:bodyPr xmlns:a="http://schemas.openxmlformats.org/drawingml/2006/main" wrap="square" anchor="t"/>
          <a:lstStyle xmlns:a="http://schemas.openxmlformats.org/drawingml/2006/main"/>
          <a:p xmlns:a="http://schemas.openxmlformats.org/drawingml/2006/main">
            <a:pPr lvl="0" algn="l">
              <a:buNone/>
            </a:pPr>
            <a:r>
              <a:rPr lang="fr-FR" sz="1200" b="0" i="0">
                <a:solidFill>
                  <a:srgbClr val="111827"/>
                </a:solidFill>
                <a:latin typeface="Inter"/>
                <a:ea typeface="Inter"/>
                <a:cs typeface="Inter"/>
              </a:rPr>
              <a:t>Réponse exportée depuis l'Assistant IA FactuTrust</a:t>
            </a:r>
          </a:p>
          <a:p xmlns:a="http://schemas.openxmlformats.org/drawingml/2006/main">
            <a:pPr lvl="0" algn="l">
              <a:buNone/>
            </a:pPr>
            <a:r>
              <a:rPr lang="fr-FR" sz="1200" b="0" i="0">
                <a:solidFill>
                  <a:srgbClr val="111827"/>
                </a:solidFill>
                <a:latin typeface="Inter"/>
                <a:ea typeface="Inter"/>
                <a:cs typeface="Inter"/>
              </a:rPr>
              <a:t>Conversation : 28f8e51d-6050-4d0c-8730-97880fbdc1f3</a:t>
            </a:r>
          </a:p>
          <a:p xmlns:a="http://schemas.openxmlformats.org/drawingml/2006/main">
            <a:pPr lvl="0" algn="l">
              <a:buNone/>
            </a:pPr>
            <a:r>
              <a:rPr lang="fr-FR" sz="1200" b="0" i="0">
                <a:solidFill>
                  <a:srgbClr val="111827"/>
                </a:solidFill>
                <a:latin typeface="Inter"/>
                <a:ea typeface="Inter"/>
                <a:cs typeface="Inter"/>
              </a:rPr>
              <a:t>Message : 473e9e6f-e5d2-4e27-b63f-0dbbb62696d7</a:t>
            </a:r>
          </a:p>
          <a:p xmlns:a="http://schemas.openxmlformats.org/drawingml/2006/main">
            <a:pPr lvl="0" algn="l">
              <a:buNone/>
            </a:pPr>
            <a:r>
              <a:rPr lang="fr-FR" sz="1200" b="0" i="0">
                <a:solidFill>
                  <a:srgbClr val="111827"/>
                </a:solidFill>
                <a:latin typeface="Inter"/>
                <a:ea typeface="Inter"/>
                <a:cs typeface="Inter"/>
              </a:rPr>
              <a:t>Page : 1</a:t>
            </a:r>
          </a:p>
          <a:p xmlns:a="http://schemas.openxmlformats.org/drawingml/2006/main">
            <a:pPr lvl="0" algn="l">
              <a:buNone/>
            </a:pPr>
            <a:r>
              <a:rPr lang="fr-FR" sz="1200" b="0" i="0">
                <a:solidFill>
                  <a:srgbClr val="111827"/>
                </a:solidFill>
                <a:latin typeface="Inter"/>
                <a:ea typeface="Inter"/>
                <a:cs typeface="Inter"/>
              </a:rPr>
              <a:t>Outils utilisés : list_inventory</a:t>
            </a:r>
          </a:p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35" name="NotesPlaceholder"/>
          <p:cNvSpPr>
            <a:spLocks xmlns:a="http://schemas.openxmlformats.org/drawingml/2006/main" noGrp="1"/>
          </p:cNvSpPr>
          <p:nvPr>
            <p:ph type="body" idx="2"/>
          </p:nvPr>
        </p:nvSpPr>
        <p:spPr>
          <a:xfrm xmlns:a="http://schemas.openxmlformats.org/drawingml/2006/main">
            <a:off x="457200" y="457200"/>
            <a:ext cx="8229600" cy="5943600"/>
          </a:xfrm>
          <a:prstGeom xmlns:a="http://schemas.openxmlformats.org/drawingml/2006/main" prst="rect"/>
        </p:spPr>
        <p:txBody>
          <a:bodyPr xmlns:a="http://schemas.openxmlformats.org/drawingml/2006/main" wrap="square" anchor="t"/>
          <a:lstStyle xmlns:a="http://schemas.openxmlformats.org/drawingml/2006/main"/>
          <a:p xmlns:a="http://schemas.openxmlformats.org/drawingml/2006/main">
            <a:pPr lvl="0" algn="l">
              <a:buNone/>
            </a:pPr>
            <a:r>
              <a:rPr lang="fr-FR" sz="1200" b="0" i="0">
                <a:solidFill>
                  <a:srgbClr val="111827"/>
                </a:solidFill>
                <a:latin typeface="Inter"/>
                <a:ea typeface="Inter"/>
                <a:cs typeface="Inter"/>
              </a:rPr>
              <a:t>### 01. Analyse du stock
</a:t>
            </a:r>
          </a:p>
          <a:p xmlns:a="http://schemas.openxmlformats.org/drawingml/2006/main">
            <a:pPr lvl="0" algn="l">
              <a:buNone/>
            </a:pPr>
            <a:r>
              <a:rPr lang="fr-FR" sz="1200" b="0" i="0">
                <a:solidFill>
                  <a:srgbClr val="111827"/>
                </a:solidFill>
                <a:latin typeface="Inter"/>
                <a:ea typeface="Inter"/>
                <a:cs typeface="Inter"/>
              </a:rPr>
              <a:t>Conversation : 28f8e51d-6050-4d0c-8730-97880fbdc1f3
</a:t>
            </a:r>
          </a:p>
          <a:p xmlns:a="http://schemas.openxmlformats.org/drawingml/2006/main">
            <a:pPr lvl="0" algn="l">
              <a:buNone/>
            </a:pPr>
            <a:r>
              <a:rPr lang="fr-FR" sz="1200" b="0" i="0">
                <a:solidFill>
                  <a:srgbClr val="111827"/>
                </a:solidFill>
                <a:latin typeface="Inter"/>
                <a:ea typeface="Inter"/>
                <a:cs typeface="Inter"/>
              </a:rPr>
              <a:t>Message : 473e9e6f-e5d2-4e27-b63f-0dbbb62696d7
</a:t>
            </a:r>
          </a:p>
          <a:p xmlns:a="http://schemas.openxmlformats.org/drawingml/2006/main">
            <a:pPr lvl="0" algn="l">
              <a:buNone/>
            </a:pPr>
            <a:r>
              <a:rPr lang="fr-FR" sz="1200" b="0" i="0">
                <a:solidFill>
                  <a:srgbClr val="111827"/>
                </a:solidFill>
                <a:latin typeface="Inter"/>
                <a:ea typeface="Inter"/>
                <a:cs typeface="Inter"/>
              </a:rPr>
              <a:t>
</a:t>
            </a:r>
          </a:p>
          <a:p xmlns:a="http://schemas.openxmlformats.org/drawingml/2006/main">
            <a:pPr lvl="0" algn="l">
              <a:buNone/>
            </a:pPr>
            <a:r>
              <a:rPr lang="fr-FR" sz="1200" b="0" i="0">
                <a:solidFill>
                  <a:srgbClr val="111827"/>
                </a:solidFill>
                <a:latin typeface="Inter"/>
                <a:ea typeface="Inter"/>
                <a:cs typeface="Inter"/>
              </a:rPr>
              <a:t># Analyse du stock
</a:t>
            </a:r>
          </a:p>
          <a:p xmlns:a="http://schemas.openxmlformats.org/drawingml/2006/main">
            <a:pPr lvl="0" algn="l">
              <a:buNone/>
            </a:pPr>
            <a:r>
              <a:rPr lang="fr-FR" sz="1200" b="0" i="0">
                <a:solidFill>
                  <a:srgbClr val="111827"/>
                </a:solidFill>
                <a:latin typeface="Inter"/>
                <a:ea typeface="Inter"/>
                <a:cs typeface="Inter"/>
              </a:rPr>
              <a:t>
</a:t>
            </a:r>
          </a:p>
          <a:p xmlns:a="http://schemas.openxmlformats.org/drawingml/2006/main">
            <a:pPr lvl="0" algn="l">
              <a:buNone/>
            </a:pPr>
            <a:r>
              <a:rPr lang="fr-FR" sz="1200" b="0" i="0">
                <a:solidFill>
                  <a:srgbClr val="111827"/>
                </a:solidFill>
                <a:latin typeface="Inter"/>
                <a:ea typeface="Inter"/>
                <a:cs typeface="Inter"/>
              </a:rPr>
              <a:t>Voici les principaux indicateurs :
</a:t>
            </a:r>
          </a:p>
          <a:p xmlns:a="http://schemas.openxmlformats.org/drawingml/2006/main">
            <a:pPr lvl="0" algn="l">
              <a:buNone/>
            </a:pPr>
            <a:r>
              <a:rPr lang="fr-FR" sz="1200" b="0" i="0">
                <a:solidFill>
                  <a:srgbClr val="111827"/>
                </a:solidFill>
                <a:latin typeface="Inter"/>
                <a:ea typeface="Inter"/>
                <a:cs typeface="Inter"/>
              </a:rPr>
              <a:t>
</a:t>
            </a:r>
          </a:p>
          <a:p xmlns:a="http://schemas.openxmlformats.org/drawingml/2006/main">
            <a:pPr lvl="0" algn="l">
              <a:buNone/>
            </a:pPr>
            <a:r>
              <a:rPr lang="fr-FR" sz="1200" b="0" i="0">
                <a:solidFill>
                  <a:srgbClr val="111827"/>
                </a:solidFill>
                <a:latin typeface="Inter"/>
                <a:ea typeface="Inter"/>
                <a:cs typeface="Inter"/>
              </a:rPr>
              <a:t>- **Articles actifs** : 1 240
</a:t>
            </a:r>
          </a:p>
          <a:p xmlns:a="http://schemas.openxmlformats.org/drawingml/2006/main">
            <a:pPr lvl="0" algn="l">
              <a:buNone/>
            </a:pPr>
            <a:r>
              <a:rPr lang="fr-FR" sz="1200" b="0" i="0">
                <a:solidFill>
                  <a:srgbClr val="111827"/>
                </a:solidFill>
                <a:latin typeface="Inter"/>
                <a:ea typeface="Inter"/>
                <a:cs typeface="Inter"/>
              </a:rPr>
              <a:t>- **Articles en rupture** : 38
</a:t>
            </a:r>
          </a:p>
          <a:p xmlns:a="http://schemas.openxmlformats.org/drawingml/2006/main">
            <a:pPr lvl="0" algn="l">
              <a:buNone/>
            </a:pPr>
            <a:r>
              <a:rPr lang="fr-FR" sz="1200" b="0" i="0">
                <a:solidFill>
                  <a:srgbClr val="111827"/>
                </a:solidFill>
                <a:latin typeface="Inter"/>
                <a:ea typeface="Inter"/>
                <a:cs typeface="Inter"/>
              </a:rPr>
              <a:t>- *Articles à reapprovisionner* : 92
</a:t>
            </a:r>
          </a:p>
          <a:p xmlns:a="http://schemas.openxmlformats.org/drawingml/2006/main">
            <a:pPr lvl="0" algn="l">
              <a:buNone/>
            </a:pPr>
            <a:r>
              <a:rPr lang="fr-FR" sz="1200" b="0" i="0">
                <a:solidFill>
                  <a:srgbClr val="111827"/>
                </a:solidFill>
                <a:latin typeface="Inter"/>
                <a:ea typeface="Inter"/>
                <a:cs typeface="Inter"/>
              </a:rPr>
              <a:t>
</a:t>
            </a:r>
          </a:p>
          <a:p xmlns:a="http://schemas.openxmlformats.org/drawingml/2006/main">
            <a:pPr lvl="0" algn="l">
              <a:buNone/>
            </a:pPr>
            <a:r>
              <a:rPr lang="fr-FR" sz="1200" b="0" i="0">
                <a:solidFill>
                  <a:srgbClr val="111827"/>
                </a:solidFill>
                <a:latin typeface="Inter"/>
                <a:ea typeface="Inter"/>
                <a:cs typeface="Inter"/>
              </a:rPr>
              <a:t>
</a:t>
            </a:r>
          </a:p>
          <a:p xmlns:a="http://schemas.openxmlformats.org/drawingml/2006/main">
            <a:pPr lvl="0" algn="l">
              <a:buNone/>
            </a:pPr>
            <a:r>
              <a:rPr lang="fr-FR" sz="1200" b="0" i="0">
                <a:solidFill>
                  <a:srgbClr val="111827"/>
                </a:solidFill>
                <a:latin typeface="Inter"/>
                <a:ea typeface="Inter"/>
                <a:cs typeface="Inter"/>
              </a:rPr>
              <a:t>
</a:t>
            </a:r>
          </a:p>
          <a:p xmlns:a="http://schemas.openxmlformats.org/drawingml/2006/main">
            <a:pPr lvl="0" algn="l">
              <a:buNone/>
            </a:pPr>
            <a:r>
              <a:rPr lang="fr-FR" sz="1200" b="0" i="0">
                <a:solidFill>
                  <a:srgbClr val="111827"/>
                </a:solidFill>
                <a:latin typeface="Inter"/>
                <a:ea typeface="Inter"/>
                <a:cs typeface="Inter"/>
              </a:rPr>
              <a:t>Recommandations : passer une commande urgente pour les SKU ci-dessus.
</a:t>
            </a:r>
          </a:p>
          <a:p xmlns:a="http://schemas.openxmlformats.org/drawingml/2006/main">
            <a:pPr lvl="0" algn="l">
              <a:buNone/>
            </a:pPr>
            <a:r>
              <a:rPr lang="fr-FR" sz="1200" b="0" i="0">
                <a:solidFill>
                  <a:srgbClr val="111827"/>
                </a:solidFill>
                <a:latin typeface="Inter"/>
                <a:ea typeface="Inter"/>
                <a:cs typeface="Inter"/>
              </a:rPr>
              <a:t>
</a:t>
            </a:r>
          </a:p>
          <a:p xmlns:a="http://schemas.openxmlformats.org/drawingml/2006/main">
            <a:pPr lvl="0" algn="l">
              <a:buNone/>
            </a:pPr>
            <a:r>
              <a:rPr lang="fr-FR" sz="1200" b="0" i="0">
                <a:solidFill>
                  <a:srgbClr val="111827"/>
                </a:solidFill>
                <a:latin typeface="Inter"/>
                <a:ea typeface="Inter"/>
                <a:cs typeface="Inter"/>
              </a:rPr>
              <a:t>
</a:t>
            </a:r>
          </a:p>
          <a:p xmlns:a="http://schemas.openxmlformats.org/drawingml/2006/main">
            <a:pPr lvl="0" algn="l">
              <a:buNone/>
            </a:pPr>
            <a:r>
              <a:rPr lang="fr-FR" sz="1200" b="0" i="0">
                <a:solidFill>
                  <a:srgbClr val="111827"/>
                </a:solidFill>
                <a:latin typeface="Inter"/>
                <a:ea typeface="Inter"/>
                <a:cs typeface="Inter"/>
              </a:rPr>
              <a:t/>
            </a:r>
          </a:p>
        </p:txBody>
      </p:sp>
    </p:spTree>
  </p:cSld>
  <p:clrMapOvr>
    <a:masterClrMapping xmlns:a="http://schemas.openxmlformats.org/drawingml/2006/main"/>
  </p:clrMapOvr>
</p:notes>
</file>

<file path=ppt/slideLayouts/slideLayout1.xml><?xml version="1.0" encoding="utf-8"?>
<p:sldLayout xmlns:p="http://schemas.openxmlformats.org/presentationml/2006/main" type="blank">
  <p:cSld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Ovr>
    <a:masterClrMapping xmlns:a="http://schemas.openxmlformats.org/drawingml/2006/main"/>
  </p:clrMapOvr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af895c2f7184dce" /><Relationship Type="http://schemas.openxmlformats.org/officeDocument/2006/relationships/theme" Target="/ppt/slideMasters/theme/theme1.xml" Id="R53ca630b3a5f4fe6" /></Relationships>
</file>

<file path=ppt/slideMasters/slideMaster1.xml><?xml version="1.0" encoding="utf-8"?>
<p:sldMaster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6af895c2f7184dce"/>
  </p:sldLayoutIdLst>
</p:sldMaster>
</file>

<file path=ppt/slideMasters/theme/theme1.xml><?xml version="1.0" encoding="utf-8"?>
<a:theme xmlns:a="http://schemas.openxmlformats.org/drawingml/2006/main" name="FactuTrust">
  <a:themeElements>
    <a:clrScheme name="FactuTrust">
      <a:dk1>
        <a:sysClr val="windowText" lastClr="000000"/>
      </a:dk1>
      <a:lt1>
        <a:sysClr val="window" lastClr="FFFFFF"/>
      </a:lt1>
      <a:dk2>
        <a:srgbClr val="1F2937"/>
      </a:dk2>
      <a:lt2>
        <a:srgbClr val="F8FAFC"/>
      </a:lt2>
      <a:accent1>
        <a:srgbClr val="2563EB"/>
      </a:accent1>
      <a:accent2>
        <a:srgbClr val="F59E0B"/>
      </a:accent2>
      <a:accent3>
        <a:srgbClr val="059669"/>
      </a:accent3>
      <a:accent4>
        <a:srgbClr val="DC2626"/>
      </a:accent4>
      <a:accent5>
        <a:srgbClr val="7C3AED"/>
      </a:accent5>
      <a:accent6>
        <a:srgbClr val="0891B2"/>
      </a:accent6>
      <a:hlink>
        <a:srgbClr val="2563EB"/>
      </a:hlink>
      <a:folHlink>
        <a:srgbClr val="7C3AED"/>
      </a:folHlink>
    </a:clrScheme>
    <a:fontScheme name="Inter">
      <a:majorFont>
        <a:latin typeface="Inter"/>
        <a:ea typeface=""/>
        <a:cs typeface=""/>
      </a:majorFont>
      <a:minorFont>
        <a:latin typeface="Inter"/>
        <a:ea typeface=""/>
        <a:cs typeface=""/>
      </a:minorFont>
    </a:fontScheme>
    <a:fmtScheme name="Office"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9525">
          <a:solidFill>
            <a:srgbClr val="CFD8DC"/>
          </a:solidFill>
        </a:ln>
        <a:ln w="19050">
          <a:solidFill>
            <a:srgbClr val="90A4AE"/>
          </a:solidFill>
        </a:ln>
        <a:ln w="28575">
          <a:solidFill>
            <a:srgbClr val="455A64"/>
          </a:solidFill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  <a:objectDefaults/>
  <a:extraClrSchemeLst/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5131c22705c4063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f866f1d79cd4b19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dc3b7cc54494c83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1aca541a55f4cfe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4c247d9037c4513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cbb79f2c370487b" /><Relationship Type="http://schemas.openxmlformats.org/officeDocument/2006/relationships/chart" Target="/ppt/slides/charts/chart1.xml" Id="Re57b9a39afdf4011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bb07c0b725a4b2a" /><Relationship Type="http://schemas.openxmlformats.org/officeDocument/2006/relationships/notesSlide" Target="/ppt/notesSlides/notesSlide1.xml" Id="R77f95c89c0b14bbb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fd644e6e0124a36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c33e1372af24d3d" /><Relationship Type="http://schemas.openxmlformats.org/officeDocument/2006/relationships/notesSlide" Target="/ppt/notesSlides/notesSlide2.xml" Id="R33de614f9ddc449f" /></Relationships>
</file>

<file path=ppt/slides/charts/_rels/chart1.xml.rels>&#65279;<?xml version="1.0" encoding="utf-8"?><Relationships xmlns="http://schemas.openxmlformats.org/package/2006/relationships"><Relationship Type="http://schemas.openxmlformats.org/officeDocument/2006/relationships/package" Target="/ppt/slides/charts/embeddings/package.bin" Id="Re1591f26e78641da" /></Relationships>
</file>

<file path=ppt/slides/charts/chart1.xml><?xml version="1.0" encoding="utf-8"?>
<c:chartSpace xmlns:c="http://schemas.openxmlformats.org/drawingml/2006/chart">
  <c:lang val="fr-TN"/>
  <c:chart>
    <c:title>
      <c:tx>
        <c:rich>
          <a:bodyPr xmlns:a="http://schemas.openxmlformats.org/drawingml/2006/main" rot="0" spcFirstLastPara="1" vertOverflow="ellipsis" wrap="square" anchor="ctr" anchorCtr="1"/>
          <a:lstStyle xmlns:a="http://schemas.openxmlformats.org/drawingml/2006/main"/>
          <a:p xmlns:a="http://schemas.openxmlformats.org/drawingml/2006/main">
            <a:pPr/>
            <a:r>
              <a:rPr lang="fr-FR" sz="1600" b="1"/>
              <a:t>Tendance hebdomadaire</a:t>
            </a:r>
          </a:p>
        </c:rich>
      </c:tx>
      <c:overlay val="0"/>
    </c:title>
    <c:autoTitleDeleted val="0"/>
    <c:plotArea>
      <c:layout/>
      <c:barChart>
        <c:barDir val="bar"/>
        <c:grouping val="clustered"/>
        <c:ser>
          <c:idx val="0"/>
          <c:order val="0"/>
          <c:tx>
            <c:v>Ruptures</c:v>
          </c:tx>
          <c:spPr>
            <a:solidFill xmlns:a="http://schemas.openxmlformats.org/drawingml/2006/main">
              <a:srgbClr val="111827"/>
            </a:solidFill>
            <a:ln xmlns:a="http://schemas.openxmlformats.org/drawingml/2006/main">
              <a:noFill/>
            </a:ln>
          </c:spPr>
          <c:cat>
            <c:strRef>
              <c:f>Sheet1!$A$2:$A$5</c:f>
              <c:strCache>
                <c:ptCount val="4"/>
                <c:pt idx="0">
                  <c:v>S1</c:v>
                </c:pt>
                <c:pt idx="1">
                  <c:v>S2</c:v>
                </c:pt>
                <c:pt idx="2">
                  <c:v>S3</c:v>
                </c:pt>
                <c:pt idx="3">
                  <c:v>S4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12</c:v>
                </c:pt>
                <c:pt idx="1">
                  <c:v>18</c:v>
                </c:pt>
                <c:pt idx="2">
                  <c:v>28</c:v>
                </c:pt>
                <c:pt idx="3">
                  <c:v>38</c:v>
                </c:pt>
              </c:numCache>
            </c:numRef>
          </c:val>
        </c:ser>
        <c:gapWidth val="150"/>
        <c:axId val="111111111"/>
        <c:axId val="222222222"/>
      </c:barChart>
      <c:catAx>
        <c:axId val="111111111"/>
        <c:scaling>
          <c:orientation val="minMax"/>
        </c:scaling>
        <c:delete val="0"/>
        <c:axPos val="l"/>
        <c:crossAx val="222222222"/>
      </c:catAx>
      <c:valAx>
        <c:axId val="222222222"/>
        <c:scaling>
          <c:orientation val="minMax"/>
        </c:scaling>
        <c:delete val="0"/>
        <c:axPos val="b"/>
        <c:crossAx val="111111111"/>
      </c:valAx>
    </c:plotArea>
    <c:legend>
      <c:legendPos val="b"/>
      <c:overlay val="0"/>
    </c:legend>
    <c:plotVisOnly val="1"/>
    <c:dispBlanksAs val="gap"/>
  </c:chart>
  <c:externalData xmlns:r="http://schemas.openxmlformats.org/officeDocument/2006/relationships" r:id="Re1591f26e78641da">
    <c:autoUpdate val="0"/>
  </c:externalData>
</c:chartSpace>
</file>

<file path=ppt/slides/slide1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01" name="CoverBackground"/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144000" cy="6858000"/>
          </a:xfrm>
          <a:prstGeom xmlns:a="http://schemas.openxmlformats.org/drawingml/2006/main" prst="rect"/>
          <a:solidFill xmlns:a="http://schemas.openxmlformats.org/drawingml/2006/main">
            <a:srgbClr val="F9FAFB"/>
          </a:solidFill>
          <a:ln xmlns:a="http://schemas.openxmlformats.org/drawingml/2006/main" w="0">
            <a:noFill/>
          </a:ln>
        </p:spPr>
        <p:txBody>
          <a:bodyPr xmlns:a="http://schemas.openxmlformats.org/drawingml/2006/main" wrap="square" anchor="t"/>
          <a:lstStyle xmlns:a="http://schemas.openxmlformats.org/drawingml/2006/main"/>
          <a:p xmlns:a="http://schemas.openxmlformats.org/drawingml/2006/main">
            <a:endParaRPr lang="fr-FR"/>
          </a:p>
        </p:txBody>
      </p:sp>
      <p:sp>
        <p:nvSpPr>
          <p:cNvPr id="1002" name="CoverAccentBar"/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144000" cy="76200"/>
          </a:xfrm>
          <a:prstGeom xmlns:a="http://schemas.openxmlformats.org/drawingml/2006/main" prst="rect"/>
          <a:solidFill xmlns:a="http://schemas.openxmlformats.org/drawingml/2006/main">
            <a:srgbClr val="B45309"/>
          </a:solidFill>
          <a:ln xmlns:a="http://schemas.openxmlformats.org/drawingml/2006/main" w="0">
            <a:noFill/>
          </a:ln>
        </p:spPr>
        <p:txBody>
          <a:bodyPr xmlns:a="http://schemas.openxmlformats.org/drawingml/2006/main" wrap="square" anchor="t"/>
          <a:lstStyle xmlns:a="http://schemas.openxmlformats.org/drawingml/2006/main"/>
          <a:p xmlns:a="http://schemas.openxmlformats.org/drawingml/2006/main">
            <a:endParaRPr lang="fr-FR"/>
          </a:p>
        </p:txBody>
      </p:sp>
      <p:sp>
        <p:nvSpPr>
          <p:cNvPr id="1003" name="CoverTitle"/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438400"/>
            <a:ext cx="8229600" cy="1524000"/>
          </a:xfrm>
          <a:prstGeom xmlns:a="http://schemas.openxmlformats.org/drawingml/2006/main" prst="rect"/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anchor="t"/>
          <a:lstStyle xmlns:a="http://schemas.openxmlformats.org/drawingml/2006/main"/>
          <a:p xmlns:a="http://schemas.openxmlformats.org/drawingml/2006/main">
            <a:pPr lvl="0" algn="l">
              <a:buNone/>
            </a:pPr>
            <a:r>
              <a:rPr lang="fr-FR" sz="5400" b="1" i="0">
                <a:solidFill>
                  <a:srgbClr val="111827"/>
                </a:solidFill>
                <a:latin typeface="Inter"/>
                <a:ea typeface="Inter"/>
                <a:cs typeface="Inter"/>
              </a:rPr>
              <a:t>Smoke — Executive/Standard4x3</a:t>
            </a:r>
          </a:p>
        </p:txBody>
      </p:sp>
      <p:sp>
        <p:nvSpPr>
          <p:cNvPr id="1004" name="CoverFooter"/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115050"/>
            <a:ext cx="8229600" cy="266700"/>
          </a:xfrm>
          <a:prstGeom xmlns:a="http://schemas.openxmlformats.org/drawingml/2006/main" prst="rect"/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anchor="t"/>
          <a:lstStyle xmlns:a="http://schemas.openxmlformats.org/drawingml/2006/main"/>
          <a:p xmlns:a="http://schemas.openxmlformats.org/drawingml/2006/main">
            <a:pPr lvl="0" algn="l">
              <a:buNone/>
            </a:pPr>
            <a:r>
              <a:rPr lang="fr-FR" sz="1200" b="0" i="0">
                <a:solidFill>
                  <a:srgbClr val="6B7280"/>
                </a:solidFill>
                <a:latin typeface="Inter"/>
                <a:ea typeface="Inter"/>
                <a:cs typeface="Inter"/>
              </a:rPr>
              <a:t>FactuTrust • 21 mai 2026</a:t>
            </a:r>
          </a:p>
        </p:txBody>
      </p:sp>
    </p:spTree>
  </p:cSld>
  <p:clrMapOvr>
    <a:masterClrMapping xmlns:a="http://schemas.openxmlformats.org/drawingml/2006/main"/>
  </p:clrMapOvr>
</p:sld>
</file>

<file path=ppt/slides/slide2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05" name="HeaderAccentBar"/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457200"/>
            <a:ext cx="457200" cy="38100"/>
          </a:xfrm>
          <a:prstGeom xmlns:a="http://schemas.openxmlformats.org/drawingml/2006/main" prst="rect"/>
          <a:solidFill xmlns:a="http://schemas.openxmlformats.org/drawingml/2006/main">
            <a:srgbClr val="B45309"/>
          </a:solidFill>
          <a:ln xmlns:a="http://schemas.openxmlformats.org/drawingml/2006/main" w="0">
            <a:noFill/>
          </a:ln>
        </p:spPr>
        <p:txBody>
          <a:bodyPr xmlns:a="http://schemas.openxmlformats.org/drawingml/2006/main" wrap="square" anchor="t"/>
          <a:lstStyle xmlns:a="http://schemas.openxmlformats.org/drawingml/2006/main"/>
          <a:p xmlns:a="http://schemas.openxmlformats.org/drawingml/2006/main">
            <a:endParaRPr lang="fr-FR"/>
          </a:p>
        </p:txBody>
      </p:sp>
      <p:sp>
        <p:nvSpPr>
          <p:cNvPr id="1006" name="HeaderTitle"/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552450"/>
            <a:ext cx="8229600" cy="685800"/>
          </a:xfrm>
          <a:prstGeom xmlns:a="http://schemas.openxmlformats.org/drawingml/2006/main" prst="rect"/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anchor="t"/>
          <a:lstStyle xmlns:a="http://schemas.openxmlformats.org/drawingml/2006/main"/>
          <a:p xmlns:a="http://schemas.openxmlformats.org/drawingml/2006/main">
            <a:pPr lvl="0" algn="l">
              <a:buNone/>
            </a:pPr>
            <a:r>
              <a:rPr lang="fr-FR" sz="2400" b="1" i="0">
                <a:solidFill>
                  <a:srgbClr val="111827"/>
                </a:solidFill>
                <a:latin typeface="Inter"/>
                <a:ea typeface="Inter"/>
                <a:cs typeface="Inter"/>
              </a:rPr>
              <a:t>Agenda</a:t>
            </a:r>
          </a:p>
        </p:txBody>
      </p:sp>
      <p:sp>
        <p:nvSpPr>
          <p:cNvPr id="1007" name="AgendaBody"/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143000"/>
            <a:ext cx="8229600" cy="4953000"/>
          </a:xfrm>
          <a:prstGeom xmlns:a="http://schemas.openxmlformats.org/drawingml/2006/main" prst="rect"/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anchor="t"/>
          <a:lstStyle xmlns:a="http://schemas.openxmlformats.org/drawingml/2006/main"/>
          <a:p xmlns:a="http://schemas.openxmlformats.org/drawingml/2006/main">
            <a:pPr lvl="0" algn="l">
              <a:buNone/>
            </a:pPr>
            <a:r>
              <a:rPr lang="fr-FR" sz="2000" b="1" i="0">
                <a:solidFill>
                  <a:srgbClr val="B45309"/>
                </a:solidFill>
                <a:latin typeface="Inter"/>
                <a:ea typeface="Inter"/>
                <a:cs typeface="Inter"/>
              </a:rPr>
              <a:t>01.  </a:t>
            </a:r>
            <a:r>
              <a:rPr lang="fr-FR" sz="2000" b="0" i="0">
                <a:solidFill>
                  <a:srgbClr val="111827"/>
                </a:solidFill>
                <a:latin typeface="Inter"/>
                <a:ea typeface="Inter"/>
                <a:cs typeface="Inter"/>
              </a:rPr>
              <a:t>Analyse du stock</a:t>
            </a:r>
          </a:p>
          <a:p xmlns:a="http://schemas.openxmlformats.org/drawingml/2006/main">
            <a:endParaRPr lang="fr-FR"/>
          </a:p>
        </p:txBody>
      </p:sp>
    </p:spTree>
  </p:cSld>
  <p:clrMapOvr>
    <a:masterClrMapping xmlns:a="http://schemas.openxmlformats.org/drawingml/2006/main"/>
  </p:clrMapOvr>
</p:sld>
</file>

<file path=ppt/slides/slide3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08" name="SectionBackground"/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144000" cy="6858000"/>
          </a:xfrm>
          <a:prstGeom xmlns:a="http://schemas.openxmlformats.org/drawingml/2006/main" prst="rect"/>
          <a:solidFill xmlns:a="http://schemas.openxmlformats.org/drawingml/2006/main">
            <a:srgbClr val="F9FAFB"/>
          </a:solidFill>
          <a:ln xmlns:a="http://schemas.openxmlformats.org/drawingml/2006/main" w="0">
            <a:noFill/>
          </a:ln>
        </p:spPr>
        <p:txBody>
          <a:bodyPr xmlns:a="http://schemas.openxmlformats.org/drawingml/2006/main" wrap="square" anchor="t"/>
          <a:lstStyle xmlns:a="http://schemas.openxmlformats.org/drawingml/2006/main"/>
          <a:p xmlns:a="http://schemas.openxmlformats.org/drawingml/2006/main">
            <a:endParaRPr lang="fr-FR"/>
          </a:p>
        </p:txBody>
      </p:sp>
      <p:sp>
        <p:nvSpPr>
          <p:cNvPr id="1009" name="SectionLabel"/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438400"/>
            <a:ext cx="8229600" cy="381000"/>
          </a:xfrm>
          <a:prstGeom xmlns:a="http://schemas.openxmlformats.org/drawingml/2006/main" prst="rect"/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anchor="t"/>
          <a:lstStyle xmlns:a="http://schemas.openxmlformats.org/drawingml/2006/main"/>
          <a:p xmlns:a="http://schemas.openxmlformats.org/drawingml/2006/main">
            <a:pPr lvl="0" algn="l">
              <a:buNone/>
            </a:pPr>
            <a:r>
              <a:rPr lang="fr-FR" sz="1400" b="1" i="0">
                <a:solidFill>
                  <a:srgbClr val="B45309"/>
                </a:solidFill>
                <a:latin typeface="Inter"/>
                <a:ea typeface="Inter"/>
                <a:cs typeface="Inter"/>
              </a:rPr>
              <a:t>Section 01</a:t>
            </a:r>
          </a:p>
        </p:txBody>
      </p:sp>
      <p:sp>
        <p:nvSpPr>
          <p:cNvPr id="1010" name="SectionTitle"/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914650"/>
            <a:ext cx="8229600" cy="1714500"/>
          </a:xfrm>
          <a:prstGeom xmlns:a="http://schemas.openxmlformats.org/drawingml/2006/main" prst="rect"/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anchor="t"/>
          <a:lstStyle xmlns:a="http://schemas.openxmlformats.org/drawingml/2006/main"/>
          <a:p xmlns:a="http://schemas.openxmlformats.org/drawingml/2006/main">
            <a:pPr lvl="0" algn="l">
              <a:buNone/>
            </a:pPr>
            <a:r>
              <a:rPr lang="fr-FR" sz="4400" b="1" i="0">
                <a:solidFill>
                  <a:srgbClr val="111827"/>
                </a:solidFill>
                <a:latin typeface="Inter"/>
                <a:ea typeface="Inter"/>
                <a:cs typeface="Inter"/>
              </a:rPr>
              <a:t>Analyse du stock</a:t>
            </a:r>
          </a:p>
        </p:txBody>
      </p:sp>
      <p:sp>
        <p:nvSpPr>
          <p:cNvPr id="1011" name="SectionAccent"/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4819650"/>
            <a:ext cx="914400" cy="57150"/>
          </a:xfrm>
          <a:prstGeom xmlns:a="http://schemas.openxmlformats.org/drawingml/2006/main" prst="rect"/>
          <a:solidFill xmlns:a="http://schemas.openxmlformats.org/drawingml/2006/main">
            <a:srgbClr val="B45309"/>
          </a:solidFill>
          <a:ln xmlns:a="http://schemas.openxmlformats.org/drawingml/2006/main" w="0">
            <a:noFill/>
          </a:ln>
        </p:spPr>
        <p:txBody>
          <a:bodyPr xmlns:a="http://schemas.openxmlformats.org/drawingml/2006/main" wrap="square" anchor="t"/>
          <a:lstStyle xmlns:a="http://schemas.openxmlformats.org/drawingml/2006/main"/>
          <a:p xmlns:a="http://schemas.openxmlformats.org/drawingml/2006/main">
            <a:endParaRPr lang="fr-FR"/>
          </a:p>
        </p:txBody>
      </p:sp>
    </p:spTree>
  </p:cSld>
  <p:clrMapOvr>
    <a:masterClrMapping xmlns:a="http://schemas.openxmlformats.org/drawingml/2006/main"/>
  </p:clrMapOvr>
</p:sld>
</file>

<file path=ppt/slides/slide4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12" name="HeaderAccentBar"/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457200"/>
            <a:ext cx="457200" cy="38100"/>
          </a:xfrm>
          <a:prstGeom xmlns:a="http://schemas.openxmlformats.org/drawingml/2006/main" prst="rect"/>
          <a:solidFill xmlns:a="http://schemas.openxmlformats.org/drawingml/2006/main">
            <a:srgbClr val="B45309"/>
          </a:solidFill>
          <a:ln xmlns:a="http://schemas.openxmlformats.org/drawingml/2006/main" w="0">
            <a:noFill/>
          </a:ln>
        </p:spPr>
        <p:txBody>
          <a:bodyPr xmlns:a="http://schemas.openxmlformats.org/drawingml/2006/main" wrap="square" anchor="t"/>
          <a:lstStyle xmlns:a="http://schemas.openxmlformats.org/drawingml/2006/main"/>
          <a:p xmlns:a="http://schemas.openxmlformats.org/drawingml/2006/main">
            <a:endParaRPr lang="fr-FR"/>
          </a:p>
        </p:txBody>
      </p:sp>
      <p:sp>
        <p:nvSpPr>
          <p:cNvPr id="1013" name="HeaderTitle"/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552450"/>
            <a:ext cx="8229600" cy="685800"/>
          </a:xfrm>
          <a:prstGeom xmlns:a="http://schemas.openxmlformats.org/drawingml/2006/main" prst="rect"/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anchor="t"/>
          <a:lstStyle xmlns:a="http://schemas.openxmlformats.org/drawingml/2006/main"/>
          <a:p xmlns:a="http://schemas.openxmlformats.org/drawingml/2006/main">
            <a:pPr lvl="0" algn="l">
              <a:buNone/>
            </a:pPr>
            <a:r>
              <a:rPr lang="fr-FR" sz="2400" b="1" i="0">
                <a:solidFill>
                  <a:srgbClr val="111827"/>
                </a:solidFill>
                <a:latin typeface="Inter"/>
                <a:ea typeface="Inter"/>
                <a:cs typeface="Inter"/>
              </a:rPr>
              <a:t>Analyse du stock — Indicateurs clés</a:t>
            </a:r>
          </a:p>
        </p:txBody>
      </p:sp>
      <p:sp>
        <p:nvSpPr>
          <p:cNvPr id="1014" name="KpiCard"/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143000"/>
            <a:ext cx="4038600" cy="4953000"/>
          </a:xfrm>
          <a:prstGeom xmlns:a="http://schemas.openxmlformats.org/drawingml/2006/main" prst="rect"/>
          <a:solidFill xmlns:a="http://schemas.openxmlformats.org/drawingml/2006/main">
            <a:srgbClr val="F9FAFB"/>
          </a:solidFill>
          <a:ln xmlns:a="http://schemas.openxmlformats.org/drawingml/2006/main" w="0">
            <a:noFill/>
          </a:ln>
        </p:spPr>
        <p:txBody>
          <a:bodyPr xmlns:a="http://schemas.openxmlformats.org/drawingml/2006/main" wrap="square" lIns="152400" tIns="133350" rIns="152400" bIns="133350" anchor="t"/>
          <a:lstStyle xmlns:a="http://schemas.openxmlformats.org/drawingml/2006/main"/>
          <a:p xmlns:a="http://schemas.openxmlformats.org/drawingml/2006/main">
            <a:endParaRPr lang="fr-FR"/>
          </a:p>
        </p:txBody>
      </p:sp>
      <p:sp>
        <p:nvSpPr>
          <p:cNvPr id="1015" name="KpiLabel"/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1333500"/>
            <a:ext cx="3657600" cy="266700"/>
          </a:xfrm>
          <a:prstGeom xmlns:a="http://schemas.openxmlformats.org/drawingml/2006/main" prst="rect"/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anchor="t"/>
          <a:lstStyle xmlns:a="http://schemas.openxmlformats.org/drawingml/2006/main"/>
          <a:p xmlns:a="http://schemas.openxmlformats.org/drawingml/2006/main">
            <a:pPr lvl="0" algn="l">
              <a:buNone/>
            </a:pPr>
            <a:r>
              <a:rPr lang="fr-FR" sz="1200" b="0" i="0">
                <a:solidFill>
                  <a:srgbClr val="6B7280"/>
                </a:solidFill>
                <a:latin typeface="Inter"/>
                <a:ea typeface="Inter"/>
                <a:cs typeface="Inter"/>
              </a:rPr>
              <a:t>Articles actifs</a:t>
            </a:r>
          </a:p>
        </p:txBody>
      </p:sp>
      <p:sp>
        <p:nvSpPr>
          <p:cNvPr id="1016" name="KpiValue"/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1638300"/>
            <a:ext cx="3657600" cy="666750"/>
          </a:xfrm>
          <a:prstGeom xmlns:a="http://schemas.openxmlformats.org/drawingml/2006/main" prst="rect"/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anchor="t"/>
          <a:lstStyle xmlns:a="http://schemas.openxmlformats.org/drawingml/2006/main"/>
          <a:p xmlns:a="http://schemas.openxmlformats.org/drawingml/2006/main">
            <a:pPr lvl="0" algn="l">
              <a:buNone/>
            </a:pPr>
            <a:r>
              <a:rPr lang="fr-FR" sz="3400" b="1" i="0">
                <a:solidFill>
                  <a:srgbClr val="111827"/>
                </a:solidFill>
                <a:latin typeface="Inter"/>
                <a:ea typeface="Inter"/>
                <a:cs typeface="Inter"/>
              </a:rPr>
              <a:t>1 240,00 items</a:t>
            </a:r>
          </a:p>
        </p:txBody>
      </p:sp>
      <p:sp>
        <p:nvSpPr>
          <p:cNvPr id="1017" name="KpiTrend"/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5772150"/>
            <a:ext cx="3657600" cy="228600"/>
          </a:xfrm>
          <a:prstGeom xmlns:a="http://schemas.openxmlformats.org/drawingml/2006/main" prst="rect"/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anchor="t"/>
          <a:lstStyle xmlns:a="http://schemas.openxmlformats.org/drawingml/2006/main"/>
          <a:p xmlns:a="http://schemas.openxmlformats.org/drawingml/2006/main">
            <a:pPr lvl="0" algn="l">
              <a:buNone/>
            </a:pPr>
            <a:r>
              <a:rPr lang="fr-FR" sz="1100" b="1" i="0">
                <a:solidFill>
                  <a:srgbClr val="047857"/>
                </a:solidFill>
                <a:latin typeface="Inter"/>
                <a:ea typeface="Inter"/>
                <a:cs typeface="Inter"/>
              </a:rPr>
              <a:t>+2,4 %</a:t>
            </a:r>
          </a:p>
        </p:txBody>
      </p:sp>
      <p:sp>
        <p:nvSpPr>
          <p:cNvPr id="1018" name="KpiCard"/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48200" y="1143000"/>
            <a:ext cx="4038600" cy="4953000"/>
          </a:xfrm>
          <a:prstGeom xmlns:a="http://schemas.openxmlformats.org/drawingml/2006/main" prst="rect"/>
          <a:solidFill xmlns:a="http://schemas.openxmlformats.org/drawingml/2006/main">
            <a:srgbClr val="F9FAFB"/>
          </a:solidFill>
          <a:ln xmlns:a="http://schemas.openxmlformats.org/drawingml/2006/main" w="0">
            <a:noFill/>
          </a:ln>
        </p:spPr>
        <p:txBody>
          <a:bodyPr xmlns:a="http://schemas.openxmlformats.org/drawingml/2006/main" wrap="square" lIns="152400" tIns="133350" rIns="152400" bIns="133350" anchor="t"/>
          <a:lstStyle xmlns:a="http://schemas.openxmlformats.org/drawingml/2006/main"/>
          <a:p xmlns:a="http://schemas.openxmlformats.org/drawingml/2006/main">
            <a:endParaRPr lang="fr-FR"/>
          </a:p>
        </p:txBody>
      </p:sp>
      <p:sp>
        <p:nvSpPr>
          <p:cNvPr id="1019" name="KpiLabel"/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38700" y="1333500"/>
            <a:ext cx="3657600" cy="266700"/>
          </a:xfrm>
          <a:prstGeom xmlns:a="http://schemas.openxmlformats.org/drawingml/2006/main" prst="rect"/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anchor="t"/>
          <a:lstStyle xmlns:a="http://schemas.openxmlformats.org/drawingml/2006/main"/>
          <a:p xmlns:a="http://schemas.openxmlformats.org/drawingml/2006/main">
            <a:pPr lvl="0" algn="l">
              <a:buNone/>
            </a:pPr>
            <a:r>
              <a:rPr lang="fr-FR" sz="1200" b="0" i="0">
                <a:solidFill>
                  <a:srgbClr val="6B7280"/>
                </a:solidFill>
                <a:latin typeface="Inter"/>
                <a:ea typeface="Inter"/>
                <a:cs typeface="Inter"/>
              </a:rPr>
              <a:t>Ruptures</a:t>
            </a:r>
          </a:p>
        </p:txBody>
      </p:sp>
      <p:sp>
        <p:nvSpPr>
          <p:cNvPr id="1020" name="KpiValue"/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38700" y="1638300"/>
            <a:ext cx="3657600" cy="666750"/>
          </a:xfrm>
          <a:prstGeom xmlns:a="http://schemas.openxmlformats.org/drawingml/2006/main" prst="rect"/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anchor="t"/>
          <a:lstStyle xmlns:a="http://schemas.openxmlformats.org/drawingml/2006/main"/>
          <a:p xmlns:a="http://schemas.openxmlformats.org/drawingml/2006/main">
            <a:pPr lvl="0" algn="l">
              <a:buNone/>
            </a:pPr>
            <a:r>
              <a:rPr lang="fr-FR" sz="3400" b="1" i="0">
                <a:solidFill>
                  <a:srgbClr val="111827"/>
                </a:solidFill>
                <a:latin typeface="Inter"/>
                <a:ea typeface="Inter"/>
                <a:cs typeface="Inter"/>
              </a:rPr>
              <a:t>38,00</a:t>
            </a:r>
          </a:p>
        </p:txBody>
      </p:sp>
      <p:sp>
        <p:nvSpPr>
          <p:cNvPr id="1021" name="KpiTrend"/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38700" y="5772150"/>
            <a:ext cx="3657600" cy="228600"/>
          </a:xfrm>
          <a:prstGeom xmlns:a="http://schemas.openxmlformats.org/drawingml/2006/main" prst="rect"/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anchor="t"/>
          <a:lstStyle xmlns:a="http://schemas.openxmlformats.org/drawingml/2006/main"/>
          <a:p xmlns:a="http://schemas.openxmlformats.org/drawingml/2006/main">
            <a:pPr lvl="0" algn="l">
              <a:buNone/>
            </a:pPr>
            <a:r>
              <a:rPr lang="fr-FR" sz="1100" b="1" i="0">
                <a:solidFill>
                  <a:srgbClr val="991B1B"/>
                </a:solidFill>
                <a:latin typeface="Inter"/>
                <a:ea typeface="Inter"/>
                <a:cs typeface="Inter"/>
              </a:rPr>
              <a:t>-12,5 %</a:t>
            </a:r>
          </a:p>
        </p:txBody>
      </p:sp>
    </p:spTree>
  </p:cSld>
  <p:clrMapOvr>
    <a:masterClrMapping xmlns:a="http://schemas.openxmlformats.org/drawingml/2006/main"/>
  </p:clrMapOvr>
</p:sld>
</file>

<file path=ppt/slides/slide5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22" name="HeaderAccentBar"/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457200"/>
            <a:ext cx="457200" cy="38100"/>
          </a:xfrm>
          <a:prstGeom xmlns:a="http://schemas.openxmlformats.org/drawingml/2006/main" prst="rect"/>
          <a:solidFill xmlns:a="http://schemas.openxmlformats.org/drawingml/2006/main">
            <a:srgbClr val="B45309"/>
          </a:solidFill>
          <a:ln xmlns:a="http://schemas.openxmlformats.org/drawingml/2006/main" w="0">
            <a:noFill/>
          </a:ln>
        </p:spPr>
        <p:txBody>
          <a:bodyPr xmlns:a="http://schemas.openxmlformats.org/drawingml/2006/main" wrap="square" anchor="t"/>
          <a:lstStyle xmlns:a="http://schemas.openxmlformats.org/drawingml/2006/main"/>
          <a:p xmlns:a="http://schemas.openxmlformats.org/drawingml/2006/main">
            <a:endParaRPr lang="fr-FR"/>
          </a:p>
        </p:txBody>
      </p:sp>
      <p:sp>
        <p:nvSpPr>
          <p:cNvPr id="1023" name="HeaderTitle"/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552450"/>
            <a:ext cx="8229600" cy="685800"/>
          </a:xfrm>
          <a:prstGeom xmlns:a="http://schemas.openxmlformats.org/drawingml/2006/main" prst="rect"/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anchor="t"/>
          <a:lstStyle xmlns:a="http://schemas.openxmlformats.org/drawingml/2006/main"/>
          <a:p xmlns:a="http://schemas.openxmlformats.org/drawingml/2006/main">
            <a:pPr lvl="0" algn="l">
              <a:buNone/>
            </a:pPr>
            <a:r>
              <a:rPr lang="fr-FR" sz="2400" b="1" i="0">
                <a:solidFill>
                  <a:srgbClr val="111827"/>
                </a:solidFill>
                <a:latin typeface="Inter"/>
                <a:ea typeface="Inter"/>
                <a:cs typeface="Inter"/>
              </a:rPr>
              <a:t>Top 3 ruptures</a:t>
            </a:r>
          </a:p>
        </p:txBody>
      </p:sp>
      <p:graphicFrame>
        <p:nvGraphicFramePr>
          <p:cNvPr id="1024" name="DataTable"/>
          <p:cNvGraphicFramePr>
            <a:graphicFrameLocks xmlns:a="http://schemas.openxmlformats.org/drawingml/2006/main" noGrp="1"/>
          </p:cNvGraphicFramePr>
          <p:nvPr/>
        </p:nvGraphicFramePr>
        <p:xfrm>
          <a:off xmlns:a="http://schemas.openxmlformats.org/drawingml/2006/main" x="457200" y="1238250"/>
          <a:ext xmlns:a="http://schemas.openxmlformats.org/drawingml/2006/main" cx="8229600" cy="4762500"/>
        </p:xfrm>
        <a:graphic xmlns:a="http://schemas.openxmlformats.org/drawingml/2006/main"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743200"/>
                <a:gridCol w="2743200"/>
                <a:gridCol w="2743200"/>
              </a:tblGrid>
              <a:tr h="342900">
                <a:tc>
                  <a:txBody>
                    <a:bodyPr lIns="91440" tIns="45720" rIns="91440" bIns="45720" anchor="ctr"/>
                    <a:lstStyle/>
                    <a:p>
                      <a:pPr lvl="0" algn="l">
                        <a:buNone/>
                      </a:pPr>
                      <a:r>
                        <a:rPr lang="fr-FR" sz="1200" b="1" i="0">
                          <a:solidFill>
                            <a:srgbClr val="FFFFFF"/>
                          </a:solidFill>
                          <a:latin typeface="Inter"/>
                          <a:ea typeface="Inter"/>
                          <a:cs typeface="Inter"/>
                        </a:rPr>
                        <a:t>SKU</a:t>
                      </a:r>
                    </a:p>
                  </a:txBody>
                  <a:tcPr anchor="ctr">
                    <a:lnL w="6350">
                      <a:solidFill>
                        <a:srgbClr val="6B7280"/>
                      </a:solidFill>
                    </a:lnL>
                    <a:lnR w="6350">
                      <a:solidFill>
                        <a:srgbClr val="6B7280"/>
                      </a:solidFill>
                    </a:lnR>
                    <a:lnT w="6350">
                      <a:solidFill>
                        <a:srgbClr val="6B7280"/>
                      </a:solidFill>
                    </a:lnT>
                    <a:lnB w="6350">
                      <a:solidFill>
                        <a:srgbClr val="6B7280"/>
                      </a:solidFill>
                    </a:lnB>
                    <a:solidFill>
                      <a:srgbClr val="111827"/>
                    </a:solidFill>
                  </a:tcPr>
                </a:tc>
                <a:tc>
                  <a:txBody>
                    <a:bodyPr lIns="91440" tIns="45720" rIns="91440" bIns="45720" anchor="ctr"/>
                    <a:lstStyle/>
                    <a:p>
                      <a:pPr lvl="0" algn="l">
                        <a:buNone/>
                      </a:pPr>
                      <a:r>
                        <a:rPr lang="fr-FR" sz="1200" b="1" i="0">
                          <a:solidFill>
                            <a:srgbClr val="FFFFFF"/>
                          </a:solidFill>
                          <a:latin typeface="Inter"/>
                          <a:ea typeface="Inter"/>
                          <a:cs typeface="Inter"/>
                        </a:rPr>
                        <a:t>Article</a:t>
                      </a:r>
                    </a:p>
                  </a:txBody>
                  <a:tcPr anchor="ctr">
                    <a:lnL w="6350">
                      <a:solidFill>
                        <a:srgbClr val="6B7280"/>
                      </a:solidFill>
                    </a:lnL>
                    <a:lnR w="6350">
                      <a:solidFill>
                        <a:srgbClr val="6B7280"/>
                      </a:solidFill>
                    </a:lnR>
                    <a:lnT w="6350">
                      <a:solidFill>
                        <a:srgbClr val="6B7280"/>
                      </a:solidFill>
                    </a:lnT>
                    <a:lnB w="6350">
                      <a:solidFill>
                        <a:srgbClr val="6B7280"/>
                      </a:solidFill>
                    </a:lnB>
                    <a:solidFill>
                      <a:srgbClr val="111827"/>
                    </a:solidFill>
                  </a:tcPr>
                </a:tc>
                <a:tc>
                  <a:txBody>
                    <a:bodyPr lIns="91440" tIns="45720" rIns="91440" bIns="45720" anchor="ctr"/>
                    <a:lstStyle/>
                    <a:p>
                      <a:pPr lvl="0" algn="l">
                        <a:buNone/>
                      </a:pPr>
                      <a:r>
                        <a:rPr lang="fr-FR" sz="1200" b="1" i="0">
                          <a:solidFill>
                            <a:srgbClr val="FFFFFF"/>
                          </a:solidFill>
                          <a:latin typeface="Inter"/>
                          <a:ea typeface="Inter"/>
                          <a:cs typeface="Inter"/>
                        </a:rPr>
                        <a:t>Quantité</a:t>
                      </a:r>
                    </a:p>
                  </a:txBody>
                  <a:tcPr anchor="ctr">
                    <a:lnL w="6350">
                      <a:solidFill>
                        <a:srgbClr val="6B7280"/>
                      </a:solidFill>
                    </a:lnL>
                    <a:lnR w="6350">
                      <a:solidFill>
                        <a:srgbClr val="6B7280"/>
                      </a:solidFill>
                    </a:lnR>
                    <a:lnT w="6350">
                      <a:solidFill>
                        <a:srgbClr val="6B7280"/>
                      </a:solidFill>
                    </a:lnT>
                    <a:lnB w="6350">
                      <a:solidFill>
                        <a:srgbClr val="6B7280"/>
                      </a:solidFill>
                    </a:lnB>
                    <a:solidFill>
                      <a:srgbClr val="111827"/>
                    </a:solidFill>
                  </a:tcPr>
                </a:tc>
              </a:tr>
              <a:tr h="1473200">
                <a:tc>
                  <a:txBody>
                    <a:bodyPr lIns="91440" tIns="45720" rIns="91440" bIns="45720" anchor="ctr"/>
                    <a:lstStyle/>
                    <a:p>
                      <a:pPr lvl="0" algn="l">
                        <a:buNone/>
                      </a:pPr>
                      <a:r>
                        <a:rPr lang="fr-FR" sz="1100" b="0" i="0">
                          <a:solidFill>
                            <a:srgbClr val="111827"/>
                          </a:solidFill>
                          <a:latin typeface="Inter"/>
                          <a:ea typeface="Inter"/>
                          <a:cs typeface="Inter"/>
                        </a:rPr>
                        <a:t>A-001</a:t>
                      </a:r>
                    </a:p>
                  </a:txBody>
                  <a:tcPr anchor="ctr">
                    <a:lnL w="6350">
                      <a:solidFill>
                        <a:srgbClr val="6B7280"/>
                      </a:solidFill>
                    </a:lnL>
                    <a:lnR w="6350">
                      <a:solidFill>
                        <a:srgbClr val="6B7280"/>
                      </a:solidFill>
                    </a:lnR>
                    <a:lnT w="6350">
                      <a:solidFill>
                        <a:srgbClr val="6B7280"/>
                      </a:solidFill>
                    </a:lnT>
                    <a:lnB w="6350">
                      <a:solidFill>
                        <a:srgbClr val="6B7280"/>
                      </a:solidFill>
                    </a:lnB>
                    <a:solidFill>
                      <a:srgbClr val="F9FAFB"/>
                    </a:solidFill>
                  </a:tcPr>
                </a:tc>
                <a:tc>
                  <a:txBody>
                    <a:bodyPr lIns="91440" tIns="45720" rIns="91440" bIns="45720" anchor="ctr"/>
                    <a:lstStyle/>
                    <a:p>
                      <a:pPr lvl="0" algn="l">
                        <a:buNone/>
                      </a:pPr>
                      <a:r>
                        <a:rPr lang="fr-FR" sz="1100" b="0" i="0">
                          <a:solidFill>
                            <a:srgbClr val="111827"/>
                          </a:solidFill>
                          <a:latin typeface="Inter"/>
                          <a:ea typeface="Inter"/>
                          <a:cs typeface="Inter"/>
                        </a:rPr>
                        <a:t>Ampoule LED</a:t>
                      </a:r>
                    </a:p>
                  </a:txBody>
                  <a:tcPr anchor="ctr">
                    <a:lnL w="6350">
                      <a:solidFill>
                        <a:srgbClr val="6B7280"/>
                      </a:solidFill>
                    </a:lnL>
                    <a:lnR w="6350">
                      <a:solidFill>
                        <a:srgbClr val="6B7280"/>
                      </a:solidFill>
                    </a:lnR>
                    <a:lnT w="6350">
                      <a:solidFill>
                        <a:srgbClr val="6B7280"/>
                      </a:solidFill>
                    </a:lnT>
                    <a:lnB w="6350">
                      <a:solidFill>
                        <a:srgbClr val="6B7280"/>
                      </a:solidFill>
                    </a:lnB>
                    <a:solidFill>
                      <a:srgbClr val="F9FAFB"/>
                    </a:solidFill>
                  </a:tcPr>
                </a:tc>
                <a:tc>
                  <a:txBody>
                    <a:bodyPr lIns="91440" tIns="45720" rIns="91440" bIns="45720" anchor="ctr"/>
                    <a:lstStyle/>
                    <a:p>
                      <a:pPr lvl="0" algn="l">
                        <a:buNone/>
                      </a:pPr>
                      <a:r>
                        <a:rPr lang="fr-FR" sz="1100" b="0" i="0">
                          <a:solidFill>
                            <a:srgbClr val="111827"/>
                          </a:solidFill>
                          <a:latin typeface="Inter"/>
                          <a:ea typeface="Inter"/>
                          <a:cs typeface="Inter"/>
                        </a:rPr>
                        <a:t>0.00</a:t>
                      </a:r>
                    </a:p>
                  </a:txBody>
                  <a:tcPr anchor="ctr">
                    <a:lnL w="6350">
                      <a:solidFill>
                        <a:srgbClr val="6B7280"/>
                      </a:solidFill>
                    </a:lnL>
                    <a:lnR w="6350">
                      <a:solidFill>
                        <a:srgbClr val="6B7280"/>
                      </a:solidFill>
                    </a:lnR>
                    <a:lnT w="6350">
                      <a:solidFill>
                        <a:srgbClr val="6B7280"/>
                      </a:solidFill>
                    </a:lnT>
                    <a:lnB w="6350">
                      <a:solidFill>
                        <a:srgbClr val="6B7280"/>
                      </a:solidFill>
                    </a:lnB>
                    <a:solidFill>
                      <a:srgbClr val="F9FAFB"/>
                    </a:solidFill>
                  </a:tcPr>
                </a:tc>
              </a:tr>
              <a:tr h="1473200">
                <a:tc>
                  <a:txBody>
                    <a:bodyPr lIns="91440" tIns="45720" rIns="91440" bIns="45720" anchor="ctr"/>
                    <a:lstStyle/>
                    <a:p>
                      <a:pPr lvl="0" algn="l">
                        <a:buNone/>
                      </a:pPr>
                      <a:r>
                        <a:rPr lang="fr-FR" sz="1100" b="0" i="0">
                          <a:solidFill>
                            <a:srgbClr val="111827"/>
                          </a:solidFill>
                          <a:latin typeface="Inter"/>
                          <a:ea typeface="Inter"/>
                          <a:cs typeface="Inter"/>
                        </a:rPr>
                        <a:t>A-002</a:t>
                      </a:r>
                    </a:p>
                  </a:txBody>
                  <a:tcPr anchor="ctr">
                    <a:lnL w="6350">
                      <a:solidFill>
                        <a:srgbClr val="6B7280"/>
                      </a:solidFill>
                    </a:lnL>
                    <a:lnR w="6350">
                      <a:solidFill>
                        <a:srgbClr val="6B7280"/>
                      </a:solidFill>
                    </a:lnR>
                    <a:lnT w="6350">
                      <a:solidFill>
                        <a:srgbClr val="6B7280"/>
                      </a:solidFill>
                    </a:lnT>
                    <a:lnB w="6350">
                      <a:solidFill>
                        <a:srgbClr val="6B728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91440" tIns="45720" rIns="91440" bIns="45720" anchor="ctr"/>
                    <a:lstStyle/>
                    <a:p>
                      <a:pPr lvl="0" algn="l">
                        <a:buNone/>
                      </a:pPr>
                      <a:r>
                        <a:rPr lang="fr-FR" sz="1100" b="0" i="0">
                          <a:solidFill>
                            <a:srgbClr val="111827"/>
                          </a:solidFill>
                          <a:latin typeface="Inter"/>
                          <a:ea typeface="Inter"/>
                          <a:cs typeface="Inter"/>
                        </a:rPr>
                        <a:t>Câble USB</a:t>
                      </a:r>
                    </a:p>
                  </a:txBody>
                  <a:tcPr anchor="ctr">
                    <a:lnL w="6350">
                      <a:solidFill>
                        <a:srgbClr val="6B7280"/>
                      </a:solidFill>
                    </a:lnL>
                    <a:lnR w="6350">
                      <a:solidFill>
                        <a:srgbClr val="6B7280"/>
                      </a:solidFill>
                    </a:lnR>
                    <a:lnT w="6350">
                      <a:solidFill>
                        <a:srgbClr val="6B7280"/>
                      </a:solidFill>
                    </a:lnT>
                    <a:lnB w="6350">
                      <a:solidFill>
                        <a:srgbClr val="6B728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91440" tIns="45720" rIns="91440" bIns="45720" anchor="ctr"/>
                    <a:lstStyle/>
                    <a:p>
                      <a:pPr lvl="0" algn="l">
                        <a:buNone/>
                      </a:pPr>
                      <a:r>
                        <a:rPr lang="fr-FR" sz="1100" b="0" i="0">
                          <a:solidFill>
                            <a:srgbClr val="111827"/>
                          </a:solidFill>
                          <a:latin typeface="Inter"/>
                          <a:ea typeface="Inter"/>
                          <a:cs typeface="Inter"/>
                        </a:rPr>
                        <a:t>1.00</a:t>
                      </a:r>
                    </a:p>
                  </a:txBody>
                  <a:tcPr anchor="ctr">
                    <a:lnL w="6350">
                      <a:solidFill>
                        <a:srgbClr val="6B7280"/>
                      </a:solidFill>
                    </a:lnL>
                    <a:lnR w="6350">
                      <a:solidFill>
                        <a:srgbClr val="6B7280"/>
                      </a:solidFill>
                    </a:lnR>
                    <a:lnT w="6350">
                      <a:solidFill>
                        <a:srgbClr val="6B7280"/>
                      </a:solidFill>
                    </a:lnT>
                    <a:lnB w="6350">
                      <a:solidFill>
                        <a:srgbClr val="6B7280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1473200">
                <a:tc>
                  <a:txBody>
                    <a:bodyPr lIns="91440" tIns="45720" rIns="91440" bIns="45720" anchor="ctr"/>
                    <a:lstStyle/>
                    <a:p>
                      <a:pPr lvl="0" algn="l">
                        <a:buNone/>
                      </a:pPr>
                      <a:r>
                        <a:rPr lang="fr-FR" sz="1100" b="0" i="0">
                          <a:solidFill>
                            <a:srgbClr val="111827"/>
                          </a:solidFill>
                          <a:latin typeface="Inter"/>
                          <a:ea typeface="Inter"/>
                          <a:cs typeface="Inter"/>
                        </a:rPr>
                        <a:t>A-003</a:t>
                      </a:r>
                    </a:p>
                  </a:txBody>
                  <a:tcPr anchor="ctr">
                    <a:lnL w="6350">
                      <a:solidFill>
                        <a:srgbClr val="6B7280"/>
                      </a:solidFill>
                    </a:lnL>
                    <a:lnR w="6350">
                      <a:solidFill>
                        <a:srgbClr val="6B7280"/>
                      </a:solidFill>
                    </a:lnR>
                    <a:lnT w="6350">
                      <a:solidFill>
                        <a:srgbClr val="6B7280"/>
                      </a:solidFill>
                    </a:lnT>
                    <a:lnB w="6350">
                      <a:solidFill>
                        <a:srgbClr val="6B7280"/>
                      </a:solidFill>
                    </a:lnB>
                    <a:solidFill>
                      <a:srgbClr val="F9FAFB"/>
                    </a:solidFill>
                  </a:tcPr>
                </a:tc>
                <a:tc>
                  <a:txBody>
                    <a:bodyPr lIns="91440" tIns="45720" rIns="91440" bIns="45720" anchor="ctr"/>
                    <a:lstStyle/>
                    <a:p>
                      <a:pPr lvl="0" algn="l">
                        <a:buNone/>
                      </a:pPr>
                      <a:r>
                        <a:rPr lang="fr-FR" sz="1100" b="0" i="0">
                          <a:solidFill>
                            <a:srgbClr val="111827"/>
                          </a:solidFill>
                          <a:latin typeface="Inter"/>
                          <a:ea typeface="Inter"/>
                          <a:cs typeface="Inter"/>
                        </a:rPr>
                        <a:t>Chargeur</a:t>
                      </a:r>
                    </a:p>
                  </a:txBody>
                  <a:tcPr anchor="ctr">
                    <a:lnL w="6350">
                      <a:solidFill>
                        <a:srgbClr val="6B7280"/>
                      </a:solidFill>
                    </a:lnL>
                    <a:lnR w="6350">
                      <a:solidFill>
                        <a:srgbClr val="6B7280"/>
                      </a:solidFill>
                    </a:lnR>
                    <a:lnT w="6350">
                      <a:solidFill>
                        <a:srgbClr val="6B7280"/>
                      </a:solidFill>
                    </a:lnT>
                    <a:lnB w="6350">
                      <a:solidFill>
                        <a:srgbClr val="6B7280"/>
                      </a:solidFill>
                    </a:lnB>
                    <a:solidFill>
                      <a:srgbClr val="F9FAFB"/>
                    </a:solidFill>
                  </a:tcPr>
                </a:tc>
                <a:tc>
                  <a:txBody>
                    <a:bodyPr lIns="91440" tIns="45720" rIns="91440" bIns="45720" anchor="ctr"/>
                    <a:lstStyle/>
                    <a:p>
                      <a:pPr lvl="0" algn="l">
                        <a:buNone/>
                      </a:pPr>
                      <a:r>
                        <a:rPr lang="fr-FR" sz="1100" b="0" i="0">
                          <a:solidFill>
                            <a:srgbClr val="111827"/>
                          </a:solidFill>
                          <a:latin typeface="Inter"/>
                          <a:ea typeface="Inter"/>
                          <a:cs typeface="Inter"/>
                        </a:rPr>
                        <a:t>2.00</a:t>
                      </a:r>
                    </a:p>
                  </a:txBody>
                  <a:tcPr anchor="ctr">
                    <a:lnL w="6350">
                      <a:solidFill>
                        <a:srgbClr val="6B7280"/>
                      </a:solidFill>
                    </a:lnL>
                    <a:lnR w="6350">
                      <a:solidFill>
                        <a:srgbClr val="6B7280"/>
                      </a:solidFill>
                    </a:lnR>
                    <a:lnT w="6350">
                      <a:solidFill>
                        <a:srgbClr val="6B7280"/>
                      </a:solidFill>
                    </a:lnT>
                    <a:lnB w="6350">
                      <a:solidFill>
                        <a:srgbClr val="6B7280"/>
                      </a:solidFill>
                    </a:lnB>
                    <a:solidFill>
                      <a:srgbClr val="F9FAFB"/>
                    </a:solidFill>
                  </a:tcPr>
                </a:tc>
              </a:tr>
            </a:tbl>
          </a:graphicData>
        </a:graphic>
      </p:graphicFrame>
    </p:spTree>
  </p:cSld>
  <p:clrMapOvr>
    <a:masterClrMapping xmlns:a="http://schemas.openxmlformats.org/drawingml/2006/main"/>
  </p:clrMapOvr>
</p:sld>
</file>

<file path=ppt/slides/slide6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25" name="HeaderAccentBar"/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457200"/>
            <a:ext cx="457200" cy="38100"/>
          </a:xfrm>
          <a:prstGeom xmlns:a="http://schemas.openxmlformats.org/drawingml/2006/main" prst="rect"/>
          <a:solidFill xmlns:a="http://schemas.openxmlformats.org/drawingml/2006/main">
            <a:srgbClr val="B45309"/>
          </a:solidFill>
          <a:ln xmlns:a="http://schemas.openxmlformats.org/drawingml/2006/main" w="0">
            <a:noFill/>
          </a:ln>
        </p:spPr>
        <p:txBody>
          <a:bodyPr xmlns:a="http://schemas.openxmlformats.org/drawingml/2006/main" wrap="square" anchor="t"/>
          <a:lstStyle xmlns:a="http://schemas.openxmlformats.org/drawingml/2006/main"/>
          <a:p xmlns:a="http://schemas.openxmlformats.org/drawingml/2006/main">
            <a:endParaRPr lang="fr-FR"/>
          </a:p>
        </p:txBody>
      </p:sp>
      <p:sp>
        <p:nvSpPr>
          <p:cNvPr id="1026" name="HeaderTitle"/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552450"/>
            <a:ext cx="8229600" cy="685800"/>
          </a:xfrm>
          <a:prstGeom xmlns:a="http://schemas.openxmlformats.org/drawingml/2006/main" prst="rect"/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anchor="t"/>
          <a:lstStyle xmlns:a="http://schemas.openxmlformats.org/drawingml/2006/main"/>
          <a:p xmlns:a="http://schemas.openxmlformats.org/drawingml/2006/main">
            <a:pPr lvl="0" algn="l">
              <a:buNone/>
            </a:pPr>
            <a:r>
              <a:rPr lang="fr-FR" sz="2400" b="1" i="0">
                <a:solidFill>
                  <a:srgbClr val="111827"/>
                </a:solidFill>
                <a:latin typeface="Inter"/>
                <a:ea typeface="Inter"/>
                <a:cs typeface="Inter"/>
              </a:rPr>
              <a:t>Tendance hebdomadaire</a:t>
            </a:r>
          </a:p>
        </p:txBody>
      </p:sp>
      <p:graphicFrame>
        <p:nvGraphicFramePr>
          <p:cNvPr id="1027" name="Chart"/>
          <p:cNvGraphicFramePr>
            <a:graphicFrameLocks xmlns:a="http://schemas.openxmlformats.org/drawingml/2006/main" noGrp="1"/>
          </p:cNvGraphicFramePr>
          <p:nvPr/>
        </p:nvGraphicFramePr>
        <p:xfrm>
          <a:off xmlns:a="http://schemas.openxmlformats.org/drawingml/2006/main" x="457200" y="1238250"/>
          <a:ext xmlns:a="http://schemas.openxmlformats.org/drawingml/2006/main" cx="8229600" cy="4762500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e57b9a39afdf4011"/>
          </a:graphicData>
        </a:graphic>
      </p:graphicFrame>
    </p:spTree>
  </p:cSld>
  <p:clrMapOvr>
    <a:masterClrMapping xmlns:a="http://schemas.openxmlformats.org/drawingml/2006/main"/>
  </p:clrMapOvr>
</p:sld>
</file>

<file path=ppt/slides/slide7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29" name="HeaderAccentBar"/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457200"/>
            <a:ext cx="457200" cy="38100"/>
          </a:xfrm>
          <a:prstGeom xmlns:a="http://schemas.openxmlformats.org/drawingml/2006/main" prst="rect"/>
          <a:solidFill xmlns:a="http://schemas.openxmlformats.org/drawingml/2006/main">
            <a:srgbClr val="B45309"/>
          </a:solidFill>
          <a:ln xmlns:a="http://schemas.openxmlformats.org/drawingml/2006/main" w="0">
            <a:noFill/>
          </a:ln>
        </p:spPr>
        <p:txBody>
          <a:bodyPr xmlns:a="http://schemas.openxmlformats.org/drawingml/2006/main" wrap="square" anchor="t"/>
          <a:lstStyle xmlns:a="http://schemas.openxmlformats.org/drawingml/2006/main"/>
          <a:p xmlns:a="http://schemas.openxmlformats.org/drawingml/2006/main">
            <a:endParaRPr lang="fr-FR"/>
          </a:p>
        </p:txBody>
      </p:sp>
      <p:sp>
        <p:nvSpPr>
          <p:cNvPr id="1030" name="HeaderTitle"/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552450"/>
            <a:ext cx="8229600" cy="685800"/>
          </a:xfrm>
          <a:prstGeom xmlns:a="http://schemas.openxmlformats.org/drawingml/2006/main" prst="rect"/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anchor="t"/>
          <a:lstStyle xmlns:a="http://schemas.openxmlformats.org/drawingml/2006/main"/>
          <a:p xmlns:a="http://schemas.openxmlformats.org/drawingml/2006/main">
            <a:pPr lvl="0" algn="l">
              <a:buNone/>
            </a:pPr>
            <a:r>
              <a:rPr lang="fr-FR" sz="2400" b="1" i="0">
                <a:solidFill>
                  <a:srgbClr val="111827"/>
                </a:solidFill>
                <a:latin typeface="Inter"/>
                <a:ea typeface="Inter"/>
                <a:cs typeface="Inter"/>
              </a:rPr>
              <a:t>Analyse du stock</a:t>
            </a:r>
          </a:p>
        </p:txBody>
      </p:sp>
      <p:sp>
        <p:nvSpPr>
          <p:cNvPr id="1031" name="MarkdownBody"/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143000"/>
            <a:ext cx="8229600" cy="4953000"/>
          </a:xfrm>
          <a:prstGeom xmlns:a="http://schemas.openxmlformats.org/drawingml/2006/main" prst="rect"/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anchor="t"/>
          <a:lstStyle xmlns:a="http://schemas.openxmlformats.org/drawingml/2006/main"/>
          <a:p xmlns:a="http://schemas.openxmlformats.org/drawingml/2006/main">
            <a:pPr lvl="0" algn="l">
              <a:buNone/>
            </a:pPr>
            <a:r>
              <a:rPr lang="fr-FR" sz="2400" b="1" i="0">
                <a:solidFill>
                  <a:srgbClr val="111827"/>
                </a:solidFill>
                <a:latin typeface="Inter"/>
                <a:ea typeface="Inter"/>
                <a:cs typeface="Inter"/>
              </a:rPr>
              <a:t>Analyse du stock</a:t>
            </a:r>
          </a:p>
          <a:p xmlns:a="http://schemas.openxmlformats.org/drawingml/2006/main">
            <a:endParaRPr lang="fr-FR"/>
          </a:p>
          <a:p xmlns:a="http://schemas.openxmlformats.org/drawingml/2006/main">
            <a:pPr lvl="0" algn="l">
              <a:buNone/>
            </a:pPr>
            <a:r>
              <a:rPr lang="fr-FR" sz="1400" b="0" i="0">
                <a:solidFill>
                  <a:srgbClr val="111827"/>
                </a:solidFill>
                <a:latin typeface="Inter"/>
                <a:ea typeface="Inter"/>
                <a:cs typeface="Inter"/>
              </a:rPr>
              <a:t>Voici les principaux indicateurs :</a:t>
            </a:r>
          </a:p>
          <a:p xmlns:a="http://schemas.openxmlformats.org/drawingml/2006/main">
            <a:endParaRPr lang="fr-FR"/>
          </a:p>
          <a:p xmlns:a="http://schemas.openxmlformats.org/drawingml/2006/main">
            <a:pPr lvl="0" algn="l">
              <a:buFont typeface="Arial"/>
              <a:buChar char="•"/>
            </a:pPr>
            <a:r>
              <a:rPr lang="fr-FR" sz="1400" b="1" i="0">
                <a:solidFill>
                  <a:srgbClr val="111827"/>
                </a:solidFill>
                <a:latin typeface="Inter"/>
                <a:ea typeface="Inter"/>
                <a:cs typeface="Inter"/>
              </a:rPr>
              <a:t>Articles actifs</a:t>
            </a:r>
            <a:r>
              <a:rPr lang="fr-FR" sz="1400" b="0" i="0">
                <a:solidFill>
                  <a:srgbClr val="111827"/>
                </a:solidFill>
                <a:latin typeface="Inter"/>
                <a:ea typeface="Inter"/>
                <a:cs typeface="Inter"/>
              </a:rPr>
              <a:t> : 1 240</a:t>
            </a:r>
          </a:p>
          <a:p xmlns:a="http://schemas.openxmlformats.org/drawingml/2006/main">
            <a:pPr lvl="0" algn="l">
              <a:buFont typeface="Arial"/>
              <a:buChar char="•"/>
            </a:pPr>
            <a:r>
              <a:rPr lang="fr-FR" sz="1400" b="1" i="0">
                <a:solidFill>
                  <a:srgbClr val="111827"/>
                </a:solidFill>
                <a:latin typeface="Inter"/>
                <a:ea typeface="Inter"/>
                <a:cs typeface="Inter"/>
              </a:rPr>
              <a:t>Articles en rupture</a:t>
            </a:r>
            <a:r>
              <a:rPr lang="fr-FR" sz="1400" b="0" i="0">
                <a:solidFill>
                  <a:srgbClr val="111827"/>
                </a:solidFill>
                <a:latin typeface="Inter"/>
                <a:ea typeface="Inter"/>
                <a:cs typeface="Inter"/>
              </a:rPr>
              <a:t> : 38</a:t>
            </a:r>
          </a:p>
          <a:p xmlns:a="http://schemas.openxmlformats.org/drawingml/2006/main">
            <a:pPr lvl="0" algn="l">
              <a:buFont typeface="Arial"/>
              <a:buChar char="•"/>
            </a:pPr>
            <a:r>
              <a:rPr lang="fr-FR" sz="1400" b="0" i="1">
                <a:solidFill>
                  <a:srgbClr val="111827"/>
                </a:solidFill>
                <a:latin typeface="Inter"/>
                <a:ea typeface="Inter"/>
                <a:cs typeface="Inter"/>
              </a:rPr>
              <a:t>Articles à reapprovisionner</a:t>
            </a:r>
            <a:r>
              <a:rPr lang="fr-FR" sz="1400" b="0" i="0">
                <a:solidFill>
                  <a:srgbClr val="111827"/>
                </a:solidFill>
                <a:latin typeface="Inter"/>
                <a:ea typeface="Inter"/>
                <a:cs typeface="Inter"/>
              </a:rPr>
              <a:t> : 92</a:t>
            </a:r>
          </a:p>
          <a:p xmlns:a="http://schemas.openxmlformats.org/drawingml/2006/main">
            <a:endParaRPr lang="fr-FR"/>
          </a:p>
          <a:p xmlns:a="http://schemas.openxmlformats.org/drawingml/2006/main">
            <a:endParaRPr lang="fr-FR"/>
          </a:p>
          <a:p xmlns:a="http://schemas.openxmlformats.org/drawingml/2006/main">
            <a:endParaRPr lang="fr-FR"/>
          </a:p>
          <a:p xmlns:a="http://schemas.openxmlformats.org/drawingml/2006/main">
            <a:pPr lvl="0" algn="l">
              <a:buNone/>
            </a:pPr>
            <a:r>
              <a:rPr lang="fr-FR" sz="1400" b="0" i="0">
                <a:solidFill>
                  <a:srgbClr val="111827"/>
                </a:solidFill>
                <a:latin typeface="Inter"/>
                <a:ea typeface="Inter"/>
                <a:cs typeface="Inter"/>
              </a:rPr>
              <a:t>Recommandations : passer une commande urgente pour les SKU ci-dessus.</a:t>
            </a:r>
          </a:p>
        </p:txBody>
      </p:sp>
    </p:spTree>
  </p:cSld>
  <p:clrMapOvr>
    <a:masterClrMapping xmlns:a="http://schemas.openxmlformats.org/drawingml/2006/main"/>
  </p:clrMapOvr>
</p:sld>
</file>

<file path=ppt/slides/slide8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32" name="HeaderAccentBar"/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457200"/>
            <a:ext cx="457200" cy="38100"/>
          </a:xfrm>
          <a:prstGeom xmlns:a="http://schemas.openxmlformats.org/drawingml/2006/main" prst="rect"/>
          <a:solidFill xmlns:a="http://schemas.openxmlformats.org/drawingml/2006/main">
            <a:srgbClr val="B45309"/>
          </a:solidFill>
          <a:ln xmlns:a="http://schemas.openxmlformats.org/drawingml/2006/main" w="0">
            <a:noFill/>
          </a:ln>
        </p:spPr>
        <p:txBody>
          <a:bodyPr xmlns:a="http://schemas.openxmlformats.org/drawingml/2006/main" wrap="square" anchor="t"/>
          <a:lstStyle xmlns:a="http://schemas.openxmlformats.org/drawingml/2006/main"/>
          <a:p xmlns:a="http://schemas.openxmlformats.org/drawingml/2006/main">
            <a:endParaRPr lang="fr-FR"/>
          </a:p>
        </p:txBody>
      </p:sp>
      <p:sp>
        <p:nvSpPr>
          <p:cNvPr id="1033" name="HeaderTitle"/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552450"/>
            <a:ext cx="8229600" cy="685800"/>
          </a:xfrm>
          <a:prstGeom xmlns:a="http://schemas.openxmlformats.org/drawingml/2006/main" prst="rect"/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anchor="t"/>
          <a:lstStyle xmlns:a="http://schemas.openxmlformats.org/drawingml/2006/main"/>
          <a:p xmlns:a="http://schemas.openxmlformats.org/drawingml/2006/main">
            <a:pPr lvl="0" algn="l">
              <a:buNone/>
            </a:pPr>
            <a:r>
              <a:rPr lang="fr-FR" sz="2400" b="1" i="0">
                <a:solidFill>
                  <a:srgbClr val="111827"/>
                </a:solidFill>
                <a:latin typeface="Inter"/>
                <a:ea typeface="Inter"/>
                <a:cs typeface="Inter"/>
              </a:rPr>
              <a:t>Sources et outils</a:t>
            </a:r>
          </a:p>
        </p:txBody>
      </p:sp>
      <p:sp>
        <p:nvSpPr>
          <p:cNvPr id="1034" name="SourcesBody"/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143000"/>
            <a:ext cx="8229600" cy="4953000"/>
          </a:xfrm>
          <a:prstGeom xmlns:a="http://schemas.openxmlformats.org/drawingml/2006/main" prst="rect"/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anchor="t"/>
          <a:lstStyle xmlns:a="http://schemas.openxmlformats.org/drawingml/2006/main"/>
          <a:p xmlns:a="http://schemas.openxmlformats.org/drawingml/2006/main">
            <a:pPr lvl="0" algn="l">
              <a:buNone/>
            </a:pPr>
            <a:r>
              <a:rPr lang="fr-FR" sz="1400" b="1" i="0">
                <a:solidFill>
                  <a:srgbClr val="111827"/>
                </a:solidFill>
                <a:latin typeface="Inter"/>
                <a:ea typeface="Inter"/>
                <a:cs typeface="Inter"/>
              </a:rPr>
              <a:t>01.  Analyse du stock</a:t>
            </a:r>
          </a:p>
          <a:p xmlns:a="http://schemas.openxmlformats.org/drawingml/2006/main">
            <a:pPr lvl="0" algn="l">
              <a:buNone/>
            </a:pPr>
            <a:r>
              <a:rPr lang="fr-FR" sz="1100" b="0" i="0">
                <a:solidFill>
                  <a:srgbClr val="6B7280"/>
                </a:solidFill>
                <a:latin typeface="Inter"/>
                <a:ea typeface="Inter"/>
                <a:cs typeface="Inter"/>
              </a:rPr>
              <a:t>    Outils utilisés : list_inventory</a:t>
            </a:r>
          </a:p>
          <a:p xmlns:a="http://schemas.openxmlformats.org/drawingml/2006/main">
            <a:endParaRPr lang="fr-FR"/>
          </a:p>
        </p:txBody>
      </p:sp>
    </p:spTree>
  </p:cSld>
  <p:clrMapOvr>
    <a:masterClrMapping xmlns:a="http://schemas.openxmlformats.org/drawingml/2006/main"/>
  </p:clrMapOvr>
</p:sld>
</file>

<file path=ppt/slides/slide9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36" name="HeaderAccentBar"/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457200"/>
            <a:ext cx="457200" cy="38100"/>
          </a:xfrm>
          <a:prstGeom xmlns:a="http://schemas.openxmlformats.org/drawingml/2006/main" prst="rect"/>
          <a:solidFill xmlns:a="http://schemas.openxmlformats.org/drawingml/2006/main">
            <a:srgbClr val="B45309"/>
          </a:solidFill>
          <a:ln xmlns:a="http://schemas.openxmlformats.org/drawingml/2006/main" w="0">
            <a:noFill/>
          </a:ln>
        </p:spPr>
        <p:txBody>
          <a:bodyPr xmlns:a="http://schemas.openxmlformats.org/drawingml/2006/main" wrap="square" anchor="t"/>
          <a:lstStyle xmlns:a="http://schemas.openxmlformats.org/drawingml/2006/main"/>
          <a:p xmlns:a="http://schemas.openxmlformats.org/drawingml/2006/main">
            <a:endParaRPr lang="fr-FR"/>
          </a:p>
        </p:txBody>
      </p:sp>
      <p:sp>
        <p:nvSpPr>
          <p:cNvPr id="1037" name="HeaderTitle"/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552450"/>
            <a:ext cx="8229600" cy="685800"/>
          </a:xfrm>
          <a:prstGeom xmlns:a="http://schemas.openxmlformats.org/drawingml/2006/main" prst="rect"/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anchor="t"/>
          <a:lstStyle xmlns:a="http://schemas.openxmlformats.org/drawingml/2006/main"/>
          <a:p xmlns:a="http://schemas.openxmlformats.org/drawingml/2006/main">
            <a:pPr lvl="0" algn="l">
              <a:buNone/>
            </a:pPr>
            <a:r>
              <a:rPr lang="fr-FR" sz="2400" b="1" i="0">
                <a:solidFill>
                  <a:srgbClr val="111827"/>
                </a:solidFill>
                <a:latin typeface="Inter"/>
                <a:ea typeface="Inter"/>
                <a:cs typeface="Inter"/>
              </a:rPr>
              <a:t>Annexe — Transcript brut</a:t>
            </a:r>
          </a:p>
        </p:txBody>
      </p:sp>
      <p:sp>
        <p:nvSpPr>
          <p:cNvPr id="1038" name="AppendixBody"/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143000"/>
            <a:ext cx="8229600" cy="4953000"/>
          </a:xfrm>
          <a:prstGeom xmlns:a="http://schemas.openxmlformats.org/drawingml/2006/main" prst="rect"/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anchor="t"/>
          <a:lstStyle xmlns:a="http://schemas.openxmlformats.org/drawingml/2006/main"/>
          <a:p xmlns:a="http://schemas.openxmlformats.org/drawingml/2006/main">
            <a:pPr lvl="0" algn="l">
              <a:buNone/>
            </a:pPr>
            <a:r>
              <a:rPr lang="fr-FR" sz="1300" b="0" i="0">
                <a:solidFill>
                  <a:srgbClr val="111827"/>
                </a:solidFill>
                <a:latin typeface="Inter"/>
                <a:ea typeface="Inter"/>
                <a:cs typeface="Inter"/>
              </a:rPr>
              <a:t>Le transcript intégral des réponses sélectionnées est accessible dans les notes du présentateur.</a:t>
            </a:r>
          </a:p>
          <a:p xmlns:a="http://schemas.openxmlformats.org/drawingml/2006/main">
            <a:endParaRPr lang="fr-FR"/>
          </a:p>
          <a:p xmlns:a="http://schemas.openxmlformats.org/drawingml/2006/main">
            <a:pPr lvl="0" algn="l">
              <a:buNone/>
            </a:pPr>
            <a:r>
              <a:rPr lang="fr-FR" sz="1100" b="0" i="0">
                <a:solidFill>
                  <a:srgbClr val="6B7280"/>
                </a:solidFill>
                <a:latin typeface="Inter"/>
                <a:ea typeface="Inter"/>
                <a:cs typeface="Inter"/>
              </a:rPr>
              <a:t>• 01. Analyse du stock</a:t>
            </a:r>
          </a:p>
        </p:txBody>
      </p:sp>
    </p:spTree>
  </p:cSld>
  <p:clrMapOvr>
    <a:masterClrMapping xmlns:a="http://schemas.openxmlformats.org/drawingml/2006/main"/>
  </p:clrMapOvr>
</p:sld>
</file>