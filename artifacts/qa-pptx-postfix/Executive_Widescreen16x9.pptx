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bin" ContentType="application/vnd.openxmlformats-officedocument.spreadsheetml.sheet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19a98b97d6749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e12b651957400c"/>
  </p:sldMasterIdLst>
  <p:notesMasterIdLst>
    <p:notesMasterId xmlns:r="http://schemas.openxmlformats.org/officeDocument/2006/relationships" r:id="R9225f36b4d2b4275"/>
  </p:notesMasterIdLst>
  <p:sldIdLst>
    <p:sldId xmlns:r="http://schemas.openxmlformats.org/officeDocument/2006/relationships" id="256" r:id="Rd1118d9ffde64623"/>
    <p:sldId xmlns:r="http://schemas.openxmlformats.org/officeDocument/2006/relationships" id="257" r:id="R44d1b1bcd8324793"/>
    <p:sldId xmlns:r="http://schemas.openxmlformats.org/officeDocument/2006/relationships" id="258" r:id="Rcaf1bfc6431e4526"/>
    <p:sldId xmlns:r="http://schemas.openxmlformats.org/officeDocument/2006/relationships" id="259" r:id="Rdcccad4604874bee"/>
    <p:sldId xmlns:r="http://schemas.openxmlformats.org/officeDocument/2006/relationships" id="260" r:id="R8448ad96619c4683"/>
    <p:sldId xmlns:r="http://schemas.openxmlformats.org/officeDocument/2006/relationships" id="261" r:id="Rf8f9e6dd69304e2b"/>
    <p:sldId xmlns:r="http://schemas.openxmlformats.org/officeDocument/2006/relationships" id="262" r:id="R004c99758a684aeb"/>
    <p:sldId xmlns:r="http://schemas.openxmlformats.org/officeDocument/2006/relationships" id="263" r:id="Rd5145bac886640e4"/>
    <p:sldId xmlns:r="http://schemas.openxmlformats.org/officeDocument/2006/relationships" id="264" r:id="R257f21ea78a04c7e"/>
  </p:sldIdLst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12b651957400c" /><Relationship Type="http://schemas.openxmlformats.org/officeDocument/2006/relationships/notesMaster" Target="/ppt/notesMasters/notesMaster1.xml" Id="R9225f36b4d2b4275" /><Relationship Type="http://schemas.openxmlformats.org/officeDocument/2006/relationships/slide" Target="/ppt/slides/slide1.xml" Id="Rd1118d9ffde64623" /><Relationship Type="http://schemas.openxmlformats.org/officeDocument/2006/relationships/slide" Target="/ppt/slides/slide2.xml" Id="R44d1b1bcd8324793" /><Relationship Type="http://schemas.openxmlformats.org/officeDocument/2006/relationships/slide" Target="/ppt/slides/slide3.xml" Id="Rcaf1bfc6431e4526" /><Relationship Type="http://schemas.openxmlformats.org/officeDocument/2006/relationships/slide" Target="/ppt/slides/slide4.xml" Id="Rdcccad4604874bee" /><Relationship Type="http://schemas.openxmlformats.org/officeDocument/2006/relationships/slide" Target="/ppt/slides/slide5.xml" Id="R8448ad96619c4683" /><Relationship Type="http://schemas.openxmlformats.org/officeDocument/2006/relationships/slide" Target="/ppt/slides/slide6.xml" Id="Rf8f9e6dd69304e2b" /><Relationship Type="http://schemas.openxmlformats.org/officeDocument/2006/relationships/slide" Target="/ppt/slides/slide7.xml" Id="R004c99758a684aeb" /><Relationship Type="http://schemas.openxmlformats.org/officeDocument/2006/relationships/slide" Target="/ppt/slides/slide8.xml" Id="Rd5145bac886640e4" /><Relationship Type="http://schemas.openxmlformats.org/officeDocument/2006/relationships/slide" Target="/ppt/slides/slide9.xml" Id="R257f21ea78a0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4023ab3d9ef47b1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e09b5b9d7a34bec" /><Relationship Type="http://schemas.openxmlformats.org/officeDocument/2006/relationships/slide" Target="/ppt/slides/slide7.xml" Id="Rb720df2c8f3049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ed92b9fad3c4104" /><Relationship Type="http://schemas.openxmlformats.org/officeDocument/2006/relationships/slide" Target="/ppt/slides/slide9.xml" Id="R11c073ca459145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8" name="NotesPlaceholder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Réponse exportée depuis l'Assistant IA FactuTrust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Conversation : 7bcb0657-9591-4086-893f-0e831688ebc4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Message : 13fbfd8d-2483-4f13-a694-2ae66348933e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Page : 1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Outils utilisés : list_inventory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5" name="NotesPlaceholder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### 01.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Conversation : 7bcb0657-9591-4086-893f-0e831688ebc4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Message : 13fbfd8d-2483-4f13-a694-2ae66348933e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#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Voici les principaux indicateurs :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- **Articles actifs** : 1 240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- **Articles en rupture** : 38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- *Articles à reapprovisionner* : 92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Recommandations : passer une commande urgente pour les SKU ci-dessus.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22d27e3a2414d" /><Relationship Type="http://schemas.openxmlformats.org/officeDocument/2006/relationships/theme" Target="/ppt/slideMasters/theme/theme1.xml" Id="Rab48dce9a470438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522d27e3a2414d"/>
  </p:sldLayoutIdLst>
</p:sldMaster>
</file>

<file path=ppt/slideMasters/theme/theme1.xml><?xml version="1.0" encoding="utf-8"?>
<a:theme xmlns:a="http://schemas.openxmlformats.org/drawingml/2006/main" name="FactuTrust">
  <a:themeElements>
    <a:clrScheme name="FactuTrust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F59E0B"/>
      </a:accent2>
      <a:accent3>
        <a:srgbClr val="059669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93a0592c74b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0699d3eb74d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9471f716143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0ce5e393747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67bd11db942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4ef1381544b28" /><Relationship Type="http://schemas.openxmlformats.org/officeDocument/2006/relationships/chart" Target="/ppt/slides/charts/chart1.xml" Id="R8e8a239e700a42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5bbc570cc448b" /><Relationship Type="http://schemas.openxmlformats.org/officeDocument/2006/relationships/notesSlide" Target="/ppt/notesSlides/notesSlide1.xml" Id="Ra818b25d4b2b42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6884d2ead41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9b8e4f3e0489b" /><Relationship Type="http://schemas.openxmlformats.org/officeDocument/2006/relationships/notesSlide" Target="/ppt/notesSlides/notesSlide2.xml" Id="R6fc4a7754b0445d1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b6ba03f957394842" /></Relationships>
</file>

<file path=ppt/slides/charts/chart1.xml><?xml version="1.0" encoding="utf-8"?>
<c:chartSpace xmlns:c="http://schemas.openxmlformats.org/drawingml/2006/chart">
  <c:lang val="fr-TN"/>
  <c:chart>
    <c:title>
      <c:tx>
        <c:rich>
          <a:bodyPr xmlns:a="http://schemas.openxmlformats.org/drawingml/2006/main" rot="0" spcFirstLastPara="1" vertOverflow="ellipsis" wrap="square" anchor="ctr" anchorCtr="1"/>
          <a:lstStyle xmlns:a="http://schemas.openxmlformats.org/drawingml/2006/main"/>
          <a:p xmlns:a="http://schemas.openxmlformats.org/drawingml/2006/main">
            <a:pPr/>
            <a:r>
              <a:rPr lang="fr-FR" sz="1600" b="1"/>
              <a:t>Tendance hebdomadaire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ser>
          <c:idx val="0"/>
          <c:order val="0"/>
          <c:tx>
            <c:v>Ruptures</c:v>
          </c:tx>
          <c:spPr>
            <a:solidFill xmlns:a="http://schemas.openxmlformats.org/drawingml/2006/main">
              <a:srgbClr val="111827"/>
            </a:solidFill>
            <a:ln xmlns:a="http://schemas.openxmlformats.org/drawingml/2006/main">
              <a:noFill/>
            </a:ln>
          </c:spPr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38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</c:plotArea>
    <c:legend>
      <c:legendPos val="b"/>
      <c:overlay val="0"/>
    </c:legend>
    <c:plotVisOnly val="1"/>
    <c:dispBlanksAs val="gap"/>
  </c:chart>
  <c:externalData xmlns:r="http://schemas.openxmlformats.org/officeDocument/2006/relationships" r:id="Rb6ba03f957394842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" name="Cov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2" name="Cov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3" name="Cov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1524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5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Smoke — Executive/Widescreen16x9</a:t>
            </a:r>
          </a:p>
        </p:txBody>
      </p:sp>
      <p:sp>
        <p:nvSpPr>
          <p:cNvPr id="1004" name="CoverFoot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FactuTrust • 21 mai 2026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1007" name="Agenda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000" b="1" i="0">
                <a:solidFill>
                  <a:srgbClr val="B45309"/>
                </a:solidFill>
                <a:latin typeface="Inter"/>
                <a:ea typeface="Inter"/>
                <a:cs typeface="Inter"/>
              </a:rPr>
              <a:t>01.  </a:t>
            </a:r>
            <a:r>
              <a:rPr lang="fr-FR" sz="20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" name="Section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9" name="Section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381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B45309"/>
                </a:solidFill>
                <a:latin typeface="Inter"/>
                <a:ea typeface="Inter"/>
                <a:cs typeface="Inter"/>
              </a:rPr>
              <a:t>Section 01</a:t>
            </a:r>
          </a:p>
        </p:txBody>
      </p:sp>
      <p:sp>
        <p:nvSpPr>
          <p:cNvPr id="1010" name="Section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17145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4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11" name="Section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914400" cy="5715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 — Indicateurs clés</a:t>
            </a:r>
          </a:p>
        </p:txBody>
      </p:sp>
      <p:sp>
        <p:nvSpPr>
          <p:cNvPr id="1014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5562600" cy="4953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5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181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Articles actifs</a:t>
            </a:r>
          </a:p>
        </p:txBody>
      </p:sp>
      <p:sp>
        <p:nvSpPr>
          <p:cNvPr id="1016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181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1 240,00 items</a:t>
            </a:r>
          </a:p>
        </p:txBody>
      </p:sp>
      <p:sp>
        <p:nvSpPr>
          <p:cNvPr id="1017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5181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047857"/>
                </a:solidFill>
                <a:latin typeface="Inter"/>
                <a:ea typeface="Inter"/>
                <a:cs typeface="Inter"/>
              </a:rPr>
              <a:t>+2,4 %</a:t>
            </a:r>
          </a:p>
        </p:txBody>
      </p:sp>
      <p:sp>
        <p:nvSpPr>
          <p:cNvPr id="1018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143000"/>
            <a:ext cx="5562600" cy="4953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9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33500"/>
            <a:ext cx="5181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Ruptures</a:t>
            </a:r>
          </a:p>
        </p:txBody>
      </p:sp>
      <p:sp>
        <p:nvSpPr>
          <p:cNvPr id="1020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5181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38,00</a:t>
            </a:r>
          </a:p>
        </p:txBody>
      </p:sp>
      <p:sp>
        <p:nvSpPr>
          <p:cNvPr id="1021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72150"/>
            <a:ext cx="5181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991B1B"/>
                </a:solidFill>
                <a:latin typeface="Inter"/>
                <a:ea typeface="Inter"/>
                <a:cs typeface="Inter"/>
              </a:rPr>
              <a:t>-12,5 %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Top 3 ruptures</a:t>
            </a:r>
          </a:p>
        </p:txBody>
      </p:sp>
      <p:graphicFrame>
        <p:nvGraphicFramePr>
          <p:cNvPr id="1024" name="Data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3429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SKU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Article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Quantité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111827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A-001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Ampoule LED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0.00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A-002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Câble USB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1.00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A-003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Chargeur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2.00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Tendance hebdomadaire</a:t>
            </a:r>
          </a:p>
        </p:txBody>
      </p:sp>
      <p:graphicFrame>
        <p:nvGraphicFramePr>
          <p:cNvPr id="1027" name="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8a239e700a421d"/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9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0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31" name="Markdown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Voici les principaux indicateurs :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Articles actifs</a:t>
            </a: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: 1 240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Articles en rupture</a:t>
            </a: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: 38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0" i="1">
                <a:solidFill>
                  <a:srgbClr val="111827"/>
                </a:solidFill>
                <a:latin typeface="Inter"/>
                <a:ea typeface="Inter"/>
                <a:cs typeface="Inter"/>
              </a:rPr>
              <a:t>Articles à reapprovisionner</a:t>
            </a: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: 92</a:t>
            </a:r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Recommandations : passer une commande urgente pour les SKU ci-dessus.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Sources et outils</a:t>
            </a:r>
          </a:p>
        </p:txBody>
      </p:sp>
      <p:sp>
        <p:nvSpPr>
          <p:cNvPr id="1034" name="Sources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01.  Analyse du stock</a:t>
            </a:r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    Outils utilisés : list_inventory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6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7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Annexe — Transcript brut</a:t>
            </a:r>
          </a:p>
        </p:txBody>
      </p:sp>
      <p:sp>
        <p:nvSpPr>
          <p:cNvPr id="1038" name="Appendix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3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Le transcript intégral des réponses sélectionnées est accessible dans les notes du présentateur.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• 01. Analyse du stock</a:t>
            </a:r>
          </a:p>
        </p:txBody>
      </p:sp>
    </p:spTree>
  </p:cSld>
  <p:clrMapOvr>
    <a:masterClrMapping xmlns:a="http://schemas.openxmlformats.org/drawingml/2006/main"/>
  </p:clrMapOvr>
</p:sld>
</file>