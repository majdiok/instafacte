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3a1dc74a2c948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slide1"/>
    <p:sldId xmlns:r="http://schemas.openxmlformats.org/officeDocument/2006/relationships" id="257" r:id="slide2"/>
    <p:sldId xmlns:r="http://schemas.openxmlformats.org/officeDocument/2006/relationships" id="258" r:id="slide3"/>
    <p:sldId xmlns:r="http://schemas.openxmlformats.org/officeDocument/2006/relationships" id="259" r:id="slide4"/>
    <p:sldId xmlns:r="http://schemas.openxmlformats.org/officeDocument/2006/relationships" id="260" r:id="slide5"/>
    <p:sldId xmlns:r="http://schemas.openxmlformats.org/officeDocument/2006/relationships" id="261" r:id="slide6"/>
    <p:sldId xmlns:r="http://schemas.openxmlformats.org/officeDocument/2006/relationships" id="262" r:id="slide7"/>
    <p:sldId xmlns:r="http://schemas.openxmlformats.org/officeDocument/2006/relationships" id="263" r:id="slide8"/>
    <p:sldId xmlns:r="http://schemas.openxmlformats.org/officeDocument/2006/relationships" id="264" r:id="slide9"/>
  </p:sldIdLst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slide1" /><Relationship Type="http://schemas.openxmlformats.org/officeDocument/2006/relationships/slide" Target="/ppt/slides/slide2.xml" Id="slide2" /><Relationship Type="http://schemas.openxmlformats.org/officeDocument/2006/relationships/slide" Target="/ppt/slides/slide3.xml" Id="slide3" /><Relationship Type="http://schemas.openxmlformats.org/officeDocument/2006/relationships/slide" Target="/ppt/slides/slide4.xml" Id="slide4" /><Relationship Type="http://schemas.openxmlformats.org/officeDocument/2006/relationships/slide" Target="/ppt/slides/slide5.xml" Id="slide5" /><Relationship Type="http://schemas.openxmlformats.org/officeDocument/2006/relationships/slide" Target="/ppt/slides/slide6.xml" Id="slide6" /><Relationship Type="http://schemas.openxmlformats.org/officeDocument/2006/relationships/slide" Target="/ppt/slides/slide7.xml" Id="slide7" /><Relationship Type="http://schemas.openxmlformats.org/officeDocument/2006/relationships/slide" Target="/ppt/slides/slide8.xml" Id="slide8" /><Relationship Type="http://schemas.openxmlformats.org/officeDocument/2006/relationships/slide" Target="/ppt/slides/slide9.xml" Id="slid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8" name="NotesPlacehold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943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Réponse exportée depuis l'Assistant IA FactuTrust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Conversation : fe2a7f1a-3abc-436e-9d62-a209ec390525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Message : fea1009c-7240-4b4c-ad6d-56fa1b1959c0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Page : 1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Outils utilisés : list_inventory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5" name="NotesPlacehold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943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### 01. Analyse du stock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Conversation : fe2a7f1a-3abc-436e-9d62-a209ec390525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Message : fea1009c-7240-4b4c-ad6d-56fa1b1959c0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# Analyse du stock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Voici les principaux indicateurs :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- **Articles actifs** : 1 240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- **Articles en rupture** : 38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- *Articles à reapprovisionner* : 92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Recommandations : passer une commande urgente pour les SKU ci-dessus.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/>
            </a:r>
          </a:p>
        </p:txBody>
      </p:sp>
    </p:spTree>
  </p:cSld>
  <p:clrMapOvr>
    <a:masterClrMapping xmlns:a="http://schemas.openxmlformats.org/drawingml/2006/main"/>
  </p:clrMapOvr>
</p:note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theme" Target="/ppt/slideMasters/theme/theme1.xml" Id="rIdTheme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</p:sldMaster>
</file>

<file path=ppt/slideMasters/theme/theme1.xml><?xml version="1.0" encoding="utf-8"?>
<a:theme xmlns:a="http://schemas.openxmlformats.org/drawingml/2006/main" name="FactuTrust">
  <a:themeElements>
    <a:clrScheme name="FactuTrust">
      <a:dk1>
        <a:sysClr val="windowText" lastClr="000000"/>
      </a:dk1>
      <a:lt1>
        <a:sysClr val="window" lastClr="FFFFFF"/>
      </a:lt1>
      <a:dk2>
        <a:srgbClr val="1F2937"/>
      </a:dk2>
      <a:lt2>
        <a:srgbClr val="F8FAFC"/>
      </a:lt2>
      <a:accent1>
        <a:srgbClr val="2563EB"/>
      </a:accent1>
      <a:accent2>
        <a:srgbClr val="F59E0B"/>
      </a:accent2>
      <a:accent3>
        <a:srgbClr val="059669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chart" Target="/ppt/slides/charts/chart1.xml" Id="R8aff0630a6e14c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1.xml" Id="R438b7f0b544f4c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2.xml" Id="R7c63f74f2c8b44cd" /></Relationships>
</file>

<file path=ppt/slides/charts/chart1.xml><?xml version="1.0" encoding="utf-8"?>
<c:chartSpace xmlns:c="http://schemas.openxmlformats.org/drawingml/2006/chart">
  <c:lang val="fr-TN"/>
  <c:chart>
    <c:title>
      <c:tx>
        <c:rich>
          <a:bodyPr xmlns:a="http://schemas.openxmlformats.org/drawingml/2006/main" rot="0" spcFirstLastPara="1" vertOverflow="ellipsis" wrap="square" anchor="ctr" anchorCtr="1"/>
          <a:lstStyle xmlns:a="http://schemas.openxmlformats.org/drawingml/2006/main"/>
          <a:p xmlns:a="http://schemas.openxmlformats.org/drawingml/2006/main">
            <a:pPr/>
            <a:r>
              <a:rPr lang="fr-FR" sz="1600" b="1"/>
              <a:t>Tendance hebdomadaire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ser>
          <c:idx val="0"/>
          <c:order val="0"/>
          <c:tx>
            <c:v>Ruptures</c:v>
          </c:tx>
          <c:spPr>
            <a:solidFill xmlns:a="http://schemas.openxmlformats.org/drawingml/2006/main">
              <a:srgbClr val="2563EB"/>
            </a:solidFill>
            <a:ln xmlns:a="http://schemas.openxmlformats.org/drawingml/2006/main">
              <a:noFill/>
            </a:ln>
          </c:spPr>
          <c:cat>
            <c:strRef>
              <c:f>Sheet1!$A$2:$A$5</c:f>
              <c:strCache>
                <c:ptCount val="4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28</c:v>
                </c:pt>
                <c:pt idx="3">
                  <c:v>38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l"/>
        <c:crossAx val="222222222"/>
      </c:catAx>
      <c:valAx>
        <c:axId val="222222222"/>
        <c:scaling>
          <c:orientation val="minMax"/>
        </c:scaling>
        <c:delete val="0"/>
        <c:axPos val="b"/>
        <c:crossAx val="111111111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1" name="Cov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F8FA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2" name="Cov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3" name="Cov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11277600" cy="1524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5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Smoke — Standard/Widescreen16x9</a:t>
            </a:r>
          </a:p>
        </p:txBody>
      </p:sp>
      <p:sp>
        <p:nvSpPr>
          <p:cNvPr id="1004" name="CoverFoot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277600" cy="266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94A3B8"/>
                </a:solidFill>
                <a:latin typeface="Inter"/>
                <a:ea typeface="Inter"/>
                <a:cs typeface="Inter"/>
              </a:rPr>
              <a:t>FactuTrust • 21 mai 2026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5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6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Agenda</a:t>
            </a:r>
          </a:p>
        </p:txBody>
      </p:sp>
      <p:sp>
        <p:nvSpPr>
          <p:cNvPr id="1007" name="Agenda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1277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000" b="1" i="0">
                <a:solidFill>
                  <a:srgbClr val="2563EB"/>
                </a:solidFill>
                <a:latin typeface="Inter"/>
                <a:ea typeface="Inter"/>
                <a:cs typeface="Inter"/>
              </a:rPr>
              <a:t>01.  </a:t>
            </a:r>
            <a:r>
              <a:rPr lang="fr-FR" sz="20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Analyse du stock</a:t>
            </a:r>
          </a:p>
          <a:p xmlns:a="http://schemas.openxmlformats.org/drawingml/2006/main">
            <a:endParaRPr lang="fr-FR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8" name="Section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F8FA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9" name="Section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11277600" cy="381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400" b="1" i="0">
                <a:solidFill>
                  <a:srgbClr val="2563EB"/>
                </a:solidFill>
                <a:latin typeface="Inter"/>
                <a:ea typeface="Inter"/>
                <a:cs typeface="Inter"/>
              </a:rPr>
              <a:t>Section 01</a:t>
            </a:r>
          </a:p>
        </p:txBody>
      </p:sp>
      <p:sp>
        <p:nvSpPr>
          <p:cNvPr id="1010" name="Section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11277600" cy="17145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4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Analyse du stock</a:t>
            </a:r>
          </a:p>
        </p:txBody>
      </p:sp>
      <p:sp>
        <p:nvSpPr>
          <p:cNvPr id="1011" name="SectionAcc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914400" cy="5715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2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13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Analyse du stock — Indicateurs clés</a:t>
            </a:r>
          </a:p>
        </p:txBody>
      </p:sp>
      <p:sp>
        <p:nvSpPr>
          <p:cNvPr id="1014" name="KpiCar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5562600" cy="4953000"/>
          </a:xfrm>
          <a:prstGeom xmlns:a="http://schemas.openxmlformats.org/drawingml/2006/main" prst="rect"/>
          <a:solidFill xmlns:a="http://schemas.openxmlformats.org/drawingml/2006/main">
            <a:srgbClr val="F8FA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133350" rIns="152400" bIns="133350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15" name="Kpi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5181600" cy="266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94A3B8"/>
                </a:solidFill>
                <a:latin typeface="Inter"/>
                <a:ea typeface="Inter"/>
                <a:cs typeface="Inter"/>
              </a:rPr>
              <a:t>Articles actifs</a:t>
            </a:r>
          </a:p>
        </p:txBody>
      </p:sp>
      <p:sp>
        <p:nvSpPr>
          <p:cNvPr id="1016" name="KpiValu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5181600" cy="66675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3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1 240,00 items</a:t>
            </a:r>
          </a:p>
        </p:txBody>
      </p:sp>
      <p:sp>
        <p:nvSpPr>
          <p:cNvPr id="1017" name="KpiTre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5181600" cy="228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100" b="1" i="0">
                <a:solidFill>
                  <a:srgbClr val="059669"/>
                </a:solidFill>
                <a:latin typeface="Inter"/>
                <a:ea typeface="Inter"/>
                <a:cs typeface="Inter"/>
              </a:rPr>
              <a:t>+2,4 %</a:t>
            </a:r>
          </a:p>
        </p:txBody>
      </p:sp>
      <p:sp>
        <p:nvSpPr>
          <p:cNvPr id="1018" name="KpiCar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143000"/>
            <a:ext cx="5562600" cy="4953000"/>
          </a:xfrm>
          <a:prstGeom xmlns:a="http://schemas.openxmlformats.org/drawingml/2006/main" prst="rect"/>
          <a:solidFill xmlns:a="http://schemas.openxmlformats.org/drawingml/2006/main">
            <a:srgbClr val="F8FA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133350" rIns="152400" bIns="133350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19" name="Kpi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333500"/>
            <a:ext cx="5181600" cy="266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94A3B8"/>
                </a:solidFill>
                <a:latin typeface="Inter"/>
                <a:ea typeface="Inter"/>
                <a:cs typeface="Inter"/>
              </a:rPr>
              <a:t>Ruptures</a:t>
            </a:r>
          </a:p>
        </p:txBody>
      </p:sp>
      <p:sp>
        <p:nvSpPr>
          <p:cNvPr id="1020" name="KpiValu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38300"/>
            <a:ext cx="5181600" cy="66675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3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38,00</a:t>
            </a:r>
          </a:p>
        </p:txBody>
      </p:sp>
      <p:sp>
        <p:nvSpPr>
          <p:cNvPr id="1021" name="KpiTre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772150"/>
            <a:ext cx="5181600" cy="228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100" b="1" i="0">
                <a:solidFill>
                  <a:srgbClr val="DC2626"/>
                </a:solidFill>
                <a:latin typeface="Inter"/>
                <a:ea typeface="Inter"/>
                <a:cs typeface="Inter"/>
              </a:rPr>
              <a:t>-12,5 %</a:t>
            </a:r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2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23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Top 3 ruptures</a:t>
            </a:r>
          </a:p>
        </p:txBody>
      </p:sp>
      <p:graphicFrame>
        <p:nvGraphicFramePr>
          <p:cNvPr id="1024" name="Data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457200" y="1238250"/>
          <a:ext xmlns:a="http://schemas.openxmlformats.org/drawingml/2006/main" cx="11277600" cy="4762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/>
                <a:gridCol w="3759200"/>
                <a:gridCol w="3759200"/>
              </a:tblGrid>
              <a:tr h="3429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200" b="1" i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SKU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200" b="1" i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Article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200" b="1" i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Quantité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0F172A"/>
                    </a:solidFill>
                  </a:tcPr>
                </a:tc>
              </a:tr>
              <a:tr h="14732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A-001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Ampoule LED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0.00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14732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A-002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Câble USB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1.00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32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A-003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Chargeur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2.00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5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26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Tendance hebdomadaire</a:t>
            </a:r>
          </a:p>
        </p:txBody>
      </p:sp>
      <p:graphicFrame>
        <p:nvGraphicFramePr>
          <p:cNvPr id="1027" name="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457200" y="1238250"/>
          <a:ext xmlns:a="http://schemas.openxmlformats.org/drawingml/2006/main" cx="112776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ff0630a6e14c9f"/>
          </a:graphicData>
        </a:graphic>
      </p:graphicFrame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9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30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Analyse du stock</a:t>
            </a:r>
          </a:p>
        </p:txBody>
      </p:sp>
      <p:sp>
        <p:nvSpPr>
          <p:cNvPr id="1031" name="Markdown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1277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Analyse du stock</a:t>
            </a:r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None/>
            </a:pP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Voici les principaux indicateurs :</a:t>
            </a:r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Font typeface="Arial"/>
              <a:buChar char="•"/>
            </a:pPr>
            <a:r>
              <a:rPr lang="fr-FR" sz="1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Articles actifs</a:t>
            </a: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 : 1 240</a:t>
            </a:r>
          </a:p>
          <a:p xmlns:a="http://schemas.openxmlformats.org/drawingml/2006/main">
            <a:pPr lvl="0" algn="l">
              <a:buFont typeface="Arial"/>
              <a:buChar char="•"/>
            </a:pPr>
            <a:r>
              <a:rPr lang="fr-FR" sz="1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Articles en rupture</a:t>
            </a: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 : 38</a:t>
            </a:r>
          </a:p>
          <a:p xmlns:a="http://schemas.openxmlformats.org/drawingml/2006/main">
            <a:pPr lvl="0" algn="l">
              <a:buFont typeface="Arial"/>
              <a:buChar char="•"/>
            </a:pPr>
            <a:r>
              <a:rPr lang="fr-FR" sz="1400" b="0" i="1">
                <a:solidFill>
                  <a:srgbClr val="0F172A"/>
                </a:solidFill>
                <a:latin typeface="Inter"/>
                <a:ea typeface="Inter"/>
                <a:cs typeface="Inter"/>
              </a:rPr>
              <a:t>Articles à reapprovisionner</a:t>
            </a: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 : 92</a:t>
            </a:r>
          </a:p>
          <a:p xmlns:a="http://schemas.openxmlformats.org/drawingml/2006/main">
            <a:endParaRPr lang="fr-FR"/>
          </a:p>
          <a:p xmlns:a="http://schemas.openxmlformats.org/drawingml/2006/main">
            <a:endParaRPr lang="fr-FR"/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None/>
            </a:pP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Recommandations : passer une commande urgente pour les SKU ci-dessus.</a:t>
            </a:r>
          </a:p>
        </p:txBody>
      </p:sp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2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33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Sources et outils</a:t>
            </a:r>
          </a:p>
        </p:txBody>
      </p:sp>
      <p:sp>
        <p:nvSpPr>
          <p:cNvPr id="1034" name="Sources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1277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01.  Analyse du stock</a:t>
            </a:r>
          </a:p>
          <a:p xmlns:a="http://schemas.openxmlformats.org/drawingml/2006/main">
            <a:pPr lvl="0" algn="l">
              <a:buNone/>
            </a:pPr>
            <a:r>
              <a:rPr lang="fr-FR" sz="1100" b="0" i="0">
                <a:solidFill>
                  <a:srgbClr val="94A3B8"/>
                </a:solidFill>
                <a:latin typeface="Inter"/>
                <a:ea typeface="Inter"/>
                <a:cs typeface="Inter"/>
              </a:rPr>
              <a:t>    Outils utilisés : list_inventory</a:t>
            </a:r>
          </a:p>
          <a:p xmlns:a="http://schemas.openxmlformats.org/drawingml/2006/main">
            <a:endParaRPr lang="fr-FR"/>
          </a:p>
        </p:txBody>
      </p:sp>
    </p:spTree>
  </p:cSld>
  <p:clrMapOvr>
    <a:masterClrMapping xmlns:a="http://schemas.openxmlformats.org/drawingml/2006/main"/>
  </p:clrMapOvr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6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37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Annexe — Transcript brut</a:t>
            </a:r>
          </a:p>
        </p:txBody>
      </p:sp>
      <p:sp>
        <p:nvSpPr>
          <p:cNvPr id="1038" name="Appendix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1277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3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Le transcript intégral des réponses sélectionnées est accessible dans les notes du présentateur.</a:t>
            </a:r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None/>
            </a:pPr>
            <a:r>
              <a:rPr lang="fr-FR" sz="1100" b="0" i="0">
                <a:solidFill>
                  <a:srgbClr val="94A3B8"/>
                </a:solidFill>
                <a:latin typeface="Inter"/>
                <a:ea typeface="Inter"/>
                <a:cs typeface="Inter"/>
              </a:rPr>
              <a:t>• 01. Analyse du stock</a:t>
            </a:r>
          </a:p>
        </p:txBody>
      </p:sp>
    </p:spTree>
  </p:cSld>
  <p:clrMapOvr>
    <a:masterClrMapping xmlns:a="http://schemas.openxmlformats.org/drawingml/2006/main"/>
  </p:clrMapOvr>
</p:sld>
</file>