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Masters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slides/slide7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b7ba483a2d4c45a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IdMaster1"/>
  </p:sldMasterIdLst>
  <p:sldIdLst>
    <p:sldId xmlns:r="http://schemas.openxmlformats.org/officeDocument/2006/relationships" id="256" r:id="slide1"/>
    <p:sldId xmlns:r="http://schemas.openxmlformats.org/officeDocument/2006/relationships" id="257" r:id="slide2"/>
    <p:sldId xmlns:r="http://schemas.openxmlformats.org/officeDocument/2006/relationships" id="258" r:id="slide3"/>
    <p:sldId xmlns:r="http://schemas.openxmlformats.org/officeDocument/2006/relationships" id="259" r:id="slide4"/>
    <p:sldId xmlns:r="http://schemas.openxmlformats.org/officeDocument/2006/relationships" id="260" r:id="slide5"/>
    <p:sldId xmlns:r="http://schemas.openxmlformats.org/officeDocument/2006/relationships" id="261" r:id="slide6"/>
    <p:sldId xmlns:r="http://schemas.openxmlformats.org/officeDocument/2006/relationships" id="262" r:id="slide7"/>
    <p:sldId xmlns:r="http://schemas.openxmlformats.org/officeDocument/2006/relationships" id="263" r:id="slide8"/>
    <p:sldId xmlns:r="http://schemas.openxmlformats.org/officeDocument/2006/relationships" id="264" r:id="slide9"/>
  </p:sldIdLst>
  <p:sldSz cx="12192000" cy="6858000" type="screen16x9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Master1" /><Relationship Type="http://schemas.openxmlformats.org/officeDocument/2006/relationships/slide" Target="/ppt/slides/slide1.xml" Id="slide1" /><Relationship Type="http://schemas.openxmlformats.org/officeDocument/2006/relationships/slide" Target="/ppt/slides/slide2.xml" Id="slide2" /><Relationship Type="http://schemas.openxmlformats.org/officeDocument/2006/relationships/slide" Target="/ppt/slides/slide3.xml" Id="slide3" /><Relationship Type="http://schemas.openxmlformats.org/officeDocument/2006/relationships/slide" Target="/ppt/slides/slide4.xml" Id="slide4" /><Relationship Type="http://schemas.openxmlformats.org/officeDocument/2006/relationships/slide" Target="/ppt/slides/slide5.xml" Id="slide5" /><Relationship Type="http://schemas.openxmlformats.org/officeDocument/2006/relationships/slide" Target="/ppt/slides/slide6.xml" Id="slide6" /><Relationship Type="http://schemas.openxmlformats.org/officeDocument/2006/relationships/slide" Target="/ppt/slides/slide7.xml" Id="slide7" /><Relationship Type="http://schemas.openxmlformats.org/officeDocument/2006/relationships/slide" Target="/ppt/slides/slide8.xml" Id="slide8" /><Relationship Type="http://schemas.openxmlformats.org/officeDocument/2006/relationships/slide" Target="/ppt/slides/slide9.xml" Id="slide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8" name="NotesPlaceholde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59436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Réponse exportée depuis l'Assistant IA FactuTrust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Conversation : 58cf3df7-67dc-4fc6-a97b-c9ee2205a47b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Message : eb98e7f0-f321-4a2c-a554-933b25619362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Page : 1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Outils utilisés : list_inventory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35" name="NotesPlaceholde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59436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### 01. Analyse du stock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Conversation : 58cf3df7-67dc-4fc6-a97b-c9ee2205a47b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Message : eb98e7f0-f321-4a2c-a554-933b25619362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# Analyse du stock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Voici les principaux indicateurs :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- **Articles actifs** : 1 240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- **Articles en rupture** : 38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- *Articles à reapprovisionner* : 92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Recommandations : passer une commande urgente pour les SKU ci-dessus.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/>
            </a:r>
          </a:p>
        </p:txBody>
      </p:sp>
    </p:spTree>
  </p:cSld>
  <p:clrMapOvr>
    <a:masterClrMapping xmlns:a="http://schemas.openxmlformats.org/drawingml/2006/main"/>
  </p:clrMapOvr>
</p:notes>
</file>

<file path=ppt/slideLayouts/slideLayout1.xml><?xml version="1.0" encoding="utf-8"?>
<p:sldLayout xmlns:p="http://schemas.openxmlformats.org/presentationml/2006/main" type="blank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theme" Target="/ppt/slideMasters/theme/theme1.xml" Id="rIdTheme1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Layout1"/>
  </p:sldLayoutIdLst>
</p:sldMaster>
</file>

<file path=ppt/slideMasters/theme/theme1.xml><?xml version="1.0" encoding="utf-8"?>
<a:theme xmlns:a="http://schemas.openxmlformats.org/drawingml/2006/main" name="FactuTrust">
  <a:themeElements>
    <a:clrScheme name="FactuTrust">
      <a:dk1>
        <a:sysClr val="windowText" lastClr="000000"/>
      </a:dk1>
      <a:lt1>
        <a:sysClr val="window" lastClr="FFFFFF"/>
      </a:lt1>
      <a:dk2>
        <a:srgbClr val="1F2937"/>
      </a:dk2>
      <a:lt2>
        <a:srgbClr val="F8FAFC"/>
      </a:lt2>
      <a:accent1>
        <a:srgbClr val="2563EB"/>
      </a:accent1>
      <a:accent2>
        <a:srgbClr val="F59E0B"/>
      </a:accent2>
      <a:accent3>
        <a:srgbClr val="059669"/>
      </a:accent3>
      <a:accent4>
        <a:srgbClr val="DC2626"/>
      </a:accent4>
      <a:accent5>
        <a:srgbClr val="7C3AED"/>
      </a:accent5>
      <a:accent6>
        <a:srgbClr val="0891B2"/>
      </a:accent6>
      <a:hlink>
        <a:srgbClr val="2563EB"/>
      </a:hlink>
      <a:folHlink>
        <a:srgbClr val="7C3AED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rgbClr val="CFD8DC"/>
          </a:solidFill>
        </a:ln>
        <a:ln w="19050">
          <a:solidFill>
            <a:srgbClr val="90A4AE"/>
          </a:solidFill>
        </a:ln>
        <a:ln w="28575">
          <a:solidFill>
            <a:srgbClr val="455A64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chart" Target="/ppt/slides/charts/chart1.xml" Id="Ra4b2985d26b64bf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notesSlide" Target="/ppt/notesSlides/notesSlide1.xml" Id="R7f53c1b8f0904ae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notesSlide" Target="/ppt/notesSlides/notesSlide2.xml" Id="R2feb1649534b4325" /></Relationships>
</file>

<file path=ppt/slides/charts/chart1.xml><?xml version="1.0" encoding="utf-8"?>
<c:chartSpace xmlns:c="http://schemas.openxmlformats.org/drawingml/2006/chart">
  <c:lang val="fr-TN"/>
  <c:chart>
    <c:title>
      <c:tx>
        <c:rich>
          <a:bodyPr xmlns:a="http://schemas.openxmlformats.org/drawingml/2006/main" rot="0" spcFirstLastPara="1" vertOverflow="ellipsis" wrap="square" anchor="ctr" anchorCtr="1"/>
          <a:lstStyle xmlns:a="http://schemas.openxmlformats.org/drawingml/2006/main"/>
          <a:p xmlns:a="http://schemas.openxmlformats.org/drawingml/2006/main">
            <a:pPr/>
            <a:r>
              <a:rPr lang="fr-FR" sz="1600" b="1"/>
              <a:t>Tendance hebdomadaire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ser>
          <c:idx val="0"/>
          <c:order val="0"/>
          <c:tx>
            <c:v>Ruptures</c:v>
          </c:tx>
          <c:spPr>
            <a:solidFill xmlns:a="http://schemas.openxmlformats.org/drawingml/2006/main">
              <a:srgbClr val="111827"/>
            </a:solidFill>
            <a:ln xmlns:a="http://schemas.openxmlformats.org/drawingml/2006/main">
              <a:noFill/>
            </a:ln>
          </c:spPr>
          <c:cat>
            <c:strRef>
              <c:f>Sheet1!$A$2:$A$5</c:f>
              <c:strCache>
                <c:ptCount val="4"/>
                <c:pt idx="0">
                  <c:v>S1</c:v>
                </c:pt>
                <c:pt idx="1">
                  <c:v>S2</c:v>
                </c:pt>
                <c:pt idx="2">
                  <c:v>S3</c:v>
                </c:pt>
                <c:pt idx="3">
                  <c:v>S4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18</c:v>
                </c:pt>
                <c:pt idx="2">
                  <c:v>28</c:v>
                </c:pt>
                <c:pt idx="3">
                  <c:v>38</c:v>
                </c:pt>
              </c:numCache>
            </c:numRef>
          </c:val>
        </c:ser>
        <c:gapWidth val="150"/>
        <c:axId val="111111111"/>
        <c:axId val="222222222"/>
      </c:barChart>
      <c:catAx>
        <c:axId val="111111111"/>
        <c:scaling>
          <c:orientation val="minMax"/>
        </c:scaling>
        <c:delete val="0"/>
        <c:axPos val="l"/>
        <c:crossAx val="222222222"/>
      </c:catAx>
      <c:valAx>
        <c:axId val="222222222"/>
        <c:scaling>
          <c:orientation val="minMax"/>
        </c:scaling>
        <c:delete val="0"/>
        <c:axPos val="b"/>
        <c:crossAx val="111111111"/>
      </c:valAx>
    </c:plotArea>
    <c:legend>
      <c:legendPos val="b"/>
      <c:overlay val="0"/>
    </c:legend>
    <c:plotVisOnly val="1"/>
    <c:dispBlanksAs val="gap"/>
  </c:chart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1" name="Cover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/>
          <a:solidFill xmlns:a="http://schemas.openxmlformats.org/drawingml/2006/main">
            <a:srgbClr val="F9FAF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1002" name="Cov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/>
          <a:solidFill xmlns:a="http://schemas.openxmlformats.org/drawingml/2006/main">
            <a:srgbClr val="B4530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1003" name="Cover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38400"/>
            <a:ext cx="11277600" cy="15240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5400" b="1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Smoke — Executive/Widescreen16x9</a:t>
            </a:r>
          </a:p>
        </p:txBody>
      </p:sp>
      <p:sp>
        <p:nvSpPr>
          <p:cNvPr id="1004" name="CoverFoote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15050"/>
            <a:ext cx="11277600" cy="2667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6B7280"/>
                </a:solidFill>
                <a:latin typeface="Inter"/>
                <a:ea typeface="Inter"/>
                <a:cs typeface="Inter"/>
              </a:rPr>
              <a:t>FactuTrust • 21 mai 2026</a:t>
            </a:r>
          </a:p>
        </p:txBody>
      </p:sp>
    </p:spTree>
  </p:cSld>
  <p:clrMapOvr>
    <a:masterClrMapping xmlns:a="http://schemas.openxmlformats.org/drawingml/2006/main"/>
  </p:clrMapOvr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5" name="Head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457200" cy="38100"/>
          </a:xfrm>
          <a:prstGeom xmlns:a="http://schemas.openxmlformats.org/drawingml/2006/main" prst="rect"/>
          <a:solidFill xmlns:a="http://schemas.openxmlformats.org/drawingml/2006/main">
            <a:srgbClr val="B4530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1006" name="Header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277600" cy="6858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2400" b="1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Agenda</a:t>
            </a:r>
          </a:p>
        </p:txBody>
      </p:sp>
      <p:sp>
        <p:nvSpPr>
          <p:cNvPr id="1007" name="AgendaBod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11277600" cy="49530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2000" b="1" i="0">
                <a:solidFill>
                  <a:srgbClr val="B45309"/>
                </a:solidFill>
                <a:latin typeface="Inter"/>
                <a:ea typeface="Inter"/>
                <a:cs typeface="Inter"/>
              </a:rPr>
              <a:t>01.  </a:t>
            </a:r>
            <a:r>
              <a:rPr lang="fr-FR" sz="2000" b="0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Analyse du stock</a:t>
            </a:r>
          </a:p>
          <a:p xmlns:a="http://schemas.openxmlformats.org/drawingml/2006/main">
            <a:endParaRPr lang="fr-FR"/>
          </a:p>
        </p:txBody>
      </p:sp>
    </p:spTree>
  </p:cSld>
  <p:clrMapOvr>
    <a:masterClrMapping xmlns:a="http://schemas.openxmlformats.org/drawingml/2006/main"/>
  </p:clrMapOvr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8" name="Section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/>
          <a:solidFill xmlns:a="http://schemas.openxmlformats.org/drawingml/2006/main">
            <a:srgbClr val="F9FAF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1009" name="SectionLabel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38400"/>
            <a:ext cx="11277600" cy="3810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1400" b="1" i="0">
                <a:solidFill>
                  <a:srgbClr val="B45309"/>
                </a:solidFill>
                <a:latin typeface="Inter"/>
                <a:ea typeface="Inter"/>
                <a:cs typeface="Inter"/>
              </a:rPr>
              <a:t>Section 01</a:t>
            </a:r>
          </a:p>
        </p:txBody>
      </p:sp>
      <p:sp>
        <p:nvSpPr>
          <p:cNvPr id="1010" name="Section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14650"/>
            <a:ext cx="11277600" cy="17145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4400" b="1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Analyse du stock</a:t>
            </a:r>
          </a:p>
        </p:txBody>
      </p:sp>
      <p:sp>
        <p:nvSpPr>
          <p:cNvPr id="1011" name="SectionAcc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19650"/>
            <a:ext cx="914400" cy="57150"/>
          </a:xfrm>
          <a:prstGeom xmlns:a="http://schemas.openxmlformats.org/drawingml/2006/main" prst="rect"/>
          <a:solidFill xmlns:a="http://schemas.openxmlformats.org/drawingml/2006/main">
            <a:srgbClr val="B4530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</p:spTree>
  </p:cSld>
  <p:clrMapOvr>
    <a:masterClrMapping xmlns:a="http://schemas.openxmlformats.org/drawingml/2006/main"/>
  </p:clrMapOvr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12" name="Head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457200" cy="38100"/>
          </a:xfrm>
          <a:prstGeom xmlns:a="http://schemas.openxmlformats.org/drawingml/2006/main" prst="rect"/>
          <a:solidFill xmlns:a="http://schemas.openxmlformats.org/drawingml/2006/main">
            <a:srgbClr val="B4530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1013" name="Header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277600" cy="6858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2400" b="1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Analyse du stock — Indicateurs clés</a:t>
            </a:r>
          </a:p>
        </p:txBody>
      </p:sp>
      <p:sp>
        <p:nvSpPr>
          <p:cNvPr id="1014" name="KpiCar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5562600" cy="4953000"/>
          </a:xfrm>
          <a:prstGeom xmlns:a="http://schemas.openxmlformats.org/drawingml/2006/main" prst="rect"/>
          <a:solidFill xmlns:a="http://schemas.openxmlformats.org/drawingml/2006/main">
            <a:srgbClr val="F9FAF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133350" rIns="152400" bIns="133350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1015" name="KpiLabel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33500"/>
            <a:ext cx="5181600" cy="2667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6B7280"/>
                </a:solidFill>
                <a:latin typeface="Inter"/>
                <a:ea typeface="Inter"/>
                <a:cs typeface="Inter"/>
              </a:rPr>
              <a:t>Articles actifs</a:t>
            </a:r>
          </a:p>
        </p:txBody>
      </p:sp>
      <p:sp>
        <p:nvSpPr>
          <p:cNvPr id="1016" name="KpiValu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5181600" cy="66675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3400" b="1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1 240,00 items</a:t>
            </a:r>
          </a:p>
        </p:txBody>
      </p:sp>
      <p:sp>
        <p:nvSpPr>
          <p:cNvPr id="1017" name="KpiTre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72150"/>
            <a:ext cx="5181600" cy="2286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1100" b="1" i="0">
                <a:solidFill>
                  <a:srgbClr val="047857"/>
                </a:solidFill>
                <a:latin typeface="Inter"/>
                <a:ea typeface="Inter"/>
                <a:cs typeface="Inter"/>
              </a:rPr>
              <a:t>+2,4 %</a:t>
            </a:r>
          </a:p>
        </p:txBody>
      </p:sp>
      <p:sp>
        <p:nvSpPr>
          <p:cNvPr id="1018" name="KpiCar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143000"/>
            <a:ext cx="5562600" cy="4953000"/>
          </a:xfrm>
          <a:prstGeom xmlns:a="http://schemas.openxmlformats.org/drawingml/2006/main" prst="rect"/>
          <a:solidFill xmlns:a="http://schemas.openxmlformats.org/drawingml/2006/main">
            <a:srgbClr val="F9FAF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133350" rIns="152400" bIns="133350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1019" name="KpiLabel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333500"/>
            <a:ext cx="5181600" cy="2667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6B7280"/>
                </a:solidFill>
                <a:latin typeface="Inter"/>
                <a:ea typeface="Inter"/>
                <a:cs typeface="Inter"/>
              </a:rPr>
              <a:t>Ruptures</a:t>
            </a:r>
          </a:p>
        </p:txBody>
      </p:sp>
      <p:sp>
        <p:nvSpPr>
          <p:cNvPr id="1020" name="KpiValu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38300"/>
            <a:ext cx="5181600" cy="66675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3400" b="1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38,00</a:t>
            </a:r>
          </a:p>
        </p:txBody>
      </p:sp>
      <p:sp>
        <p:nvSpPr>
          <p:cNvPr id="1021" name="KpiTre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772150"/>
            <a:ext cx="5181600" cy="2286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1100" b="1" i="0">
                <a:solidFill>
                  <a:srgbClr val="991B1B"/>
                </a:solidFill>
                <a:latin typeface="Inter"/>
                <a:ea typeface="Inter"/>
                <a:cs typeface="Inter"/>
              </a:rPr>
              <a:t>-12,5 %</a:t>
            </a:r>
          </a:p>
        </p:txBody>
      </p:sp>
    </p:spTree>
  </p:cSld>
  <p:clrMapOvr>
    <a:masterClrMapping xmlns:a="http://schemas.openxmlformats.org/drawingml/2006/main"/>
  </p:clrMapOvr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2" name="Head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457200" cy="38100"/>
          </a:xfrm>
          <a:prstGeom xmlns:a="http://schemas.openxmlformats.org/drawingml/2006/main" prst="rect"/>
          <a:solidFill xmlns:a="http://schemas.openxmlformats.org/drawingml/2006/main">
            <a:srgbClr val="B4530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1023" name="Header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277600" cy="6858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2400" b="1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Top 3 ruptures</a:t>
            </a:r>
          </a:p>
        </p:txBody>
      </p:sp>
      <p:graphicFrame>
        <p:nvGraphicFramePr>
          <p:cNvPr id="1024" name="DataTable"/>
          <p:cNvGraphicFramePr>
            <a:graphicFrameLocks xmlns:a="http://schemas.openxmlformats.org/drawingml/2006/main" noGrp="1"/>
          </p:cNvGraphicFramePr>
          <p:nvPr/>
        </p:nvGraphicFramePr>
        <p:xfrm>
          <a:off xmlns:a="http://schemas.openxmlformats.org/drawingml/2006/main" x="457200" y="1238250"/>
          <a:ext xmlns:a="http://schemas.openxmlformats.org/drawingml/2006/main" cx="11277600" cy="47625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200"/>
                <a:gridCol w="3759200"/>
                <a:gridCol w="3759200"/>
              </a:tblGrid>
              <a:tr h="342900">
                <a:tc>
                  <a:txBody>
                    <a:bodyPr lIns="91440" tIns="45720" rIns="91440" bIns="45720" anchor="ctr"/>
                    <a:lstStyle/>
                    <a:p>
                      <a:pPr lvl="0" algn="l">
                        <a:buNone/>
                      </a:pPr>
                      <a:r>
                        <a:rPr lang="fr-FR" sz="1200" b="1" i="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SKU</a:t>
                      </a:r>
                    </a:p>
                  </a:txBody>
                  <a:tcPr anchor="ctr">
                    <a:lnL w="6350">
                      <a:solidFill>
                        <a:srgbClr val="6B7280"/>
                      </a:solidFill>
                    </a:lnL>
                    <a:lnR w="6350">
                      <a:solidFill>
                        <a:srgbClr val="6B7280"/>
                      </a:solidFill>
                    </a:lnR>
                    <a:lnT w="6350">
                      <a:solidFill>
                        <a:srgbClr val="6B7280"/>
                      </a:solidFill>
                    </a:lnT>
                    <a:lnB w="6350">
                      <a:solidFill>
                        <a:srgbClr val="6B7280"/>
                      </a:solidFill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 lIns="91440" tIns="45720" rIns="91440" bIns="45720" anchor="ctr"/>
                    <a:lstStyle/>
                    <a:p>
                      <a:pPr lvl="0" algn="l">
                        <a:buNone/>
                      </a:pPr>
                      <a:r>
                        <a:rPr lang="fr-FR" sz="1200" b="1" i="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Article</a:t>
                      </a:r>
                    </a:p>
                  </a:txBody>
                  <a:tcPr anchor="ctr">
                    <a:lnL w="6350">
                      <a:solidFill>
                        <a:srgbClr val="6B7280"/>
                      </a:solidFill>
                    </a:lnL>
                    <a:lnR w="6350">
                      <a:solidFill>
                        <a:srgbClr val="6B7280"/>
                      </a:solidFill>
                    </a:lnR>
                    <a:lnT w="6350">
                      <a:solidFill>
                        <a:srgbClr val="6B7280"/>
                      </a:solidFill>
                    </a:lnT>
                    <a:lnB w="6350">
                      <a:solidFill>
                        <a:srgbClr val="6B7280"/>
                      </a:solidFill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 lIns="91440" tIns="45720" rIns="91440" bIns="45720" anchor="ctr"/>
                    <a:lstStyle/>
                    <a:p>
                      <a:pPr lvl="0" algn="l">
                        <a:buNone/>
                      </a:pPr>
                      <a:r>
                        <a:rPr lang="fr-FR" sz="1200" b="1" i="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Quantité</a:t>
                      </a:r>
                    </a:p>
                  </a:txBody>
                  <a:tcPr anchor="ctr">
                    <a:lnL w="6350">
                      <a:solidFill>
                        <a:srgbClr val="6B7280"/>
                      </a:solidFill>
                    </a:lnL>
                    <a:lnR w="6350">
                      <a:solidFill>
                        <a:srgbClr val="6B7280"/>
                      </a:solidFill>
                    </a:lnR>
                    <a:lnT w="6350">
                      <a:solidFill>
                        <a:srgbClr val="6B7280"/>
                      </a:solidFill>
                    </a:lnT>
                    <a:lnB w="6350">
                      <a:solidFill>
                        <a:srgbClr val="6B7280"/>
                      </a:solidFill>
                    </a:lnB>
                    <a:solidFill>
                      <a:srgbClr val="111827"/>
                    </a:solidFill>
                  </a:tcPr>
                </a:tc>
              </a:tr>
              <a:tr h="1473200">
                <a:tc>
                  <a:txBody>
                    <a:bodyPr lIns="91440" tIns="45720" rIns="91440" bIns="45720" anchor="ctr"/>
                    <a:lstStyle/>
                    <a:p>
                      <a:pPr lvl="0" algn="l">
                        <a:buNone/>
                      </a:pPr>
                      <a:r>
                        <a:rPr lang="fr-FR" sz="1100" b="0" i="0">
                          <a:solidFill>
                            <a:srgbClr val="111827"/>
                          </a:solidFill>
                          <a:latin typeface="Inter"/>
                          <a:ea typeface="Inter"/>
                          <a:cs typeface="Inter"/>
                        </a:rPr>
                        <a:t>A-001</a:t>
                      </a:r>
                    </a:p>
                  </a:txBody>
                  <a:tcPr anchor="ctr">
                    <a:lnL w="6350">
                      <a:solidFill>
                        <a:srgbClr val="6B7280"/>
                      </a:solidFill>
                    </a:lnL>
                    <a:lnR w="6350">
                      <a:solidFill>
                        <a:srgbClr val="6B7280"/>
                      </a:solidFill>
                    </a:lnR>
                    <a:lnT w="6350">
                      <a:solidFill>
                        <a:srgbClr val="6B7280"/>
                      </a:solidFill>
                    </a:lnT>
                    <a:lnB w="6350">
                      <a:solidFill>
                        <a:srgbClr val="6B7280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 lIns="91440" tIns="45720" rIns="91440" bIns="45720" anchor="ctr"/>
                    <a:lstStyle/>
                    <a:p>
                      <a:pPr lvl="0" algn="l">
                        <a:buNone/>
                      </a:pPr>
                      <a:r>
                        <a:rPr lang="fr-FR" sz="1100" b="0" i="0">
                          <a:solidFill>
                            <a:srgbClr val="111827"/>
                          </a:solidFill>
                          <a:latin typeface="Inter"/>
                          <a:ea typeface="Inter"/>
                          <a:cs typeface="Inter"/>
                        </a:rPr>
                        <a:t>Ampoule LED</a:t>
                      </a:r>
                    </a:p>
                  </a:txBody>
                  <a:tcPr anchor="ctr">
                    <a:lnL w="6350">
                      <a:solidFill>
                        <a:srgbClr val="6B7280"/>
                      </a:solidFill>
                    </a:lnL>
                    <a:lnR w="6350">
                      <a:solidFill>
                        <a:srgbClr val="6B7280"/>
                      </a:solidFill>
                    </a:lnR>
                    <a:lnT w="6350">
                      <a:solidFill>
                        <a:srgbClr val="6B7280"/>
                      </a:solidFill>
                    </a:lnT>
                    <a:lnB w="6350">
                      <a:solidFill>
                        <a:srgbClr val="6B7280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 lIns="91440" tIns="45720" rIns="91440" bIns="45720" anchor="ctr"/>
                    <a:lstStyle/>
                    <a:p>
                      <a:pPr lvl="0" algn="l">
                        <a:buNone/>
                      </a:pPr>
                      <a:r>
                        <a:rPr lang="fr-FR" sz="1100" b="0" i="0">
                          <a:solidFill>
                            <a:srgbClr val="111827"/>
                          </a:solidFill>
                          <a:latin typeface="Inter"/>
                          <a:ea typeface="Inter"/>
                          <a:cs typeface="Inter"/>
                        </a:rPr>
                        <a:t>0.00</a:t>
                      </a:r>
                    </a:p>
                  </a:txBody>
                  <a:tcPr anchor="ctr">
                    <a:lnL w="6350">
                      <a:solidFill>
                        <a:srgbClr val="6B7280"/>
                      </a:solidFill>
                    </a:lnL>
                    <a:lnR w="6350">
                      <a:solidFill>
                        <a:srgbClr val="6B7280"/>
                      </a:solidFill>
                    </a:lnR>
                    <a:lnT w="6350">
                      <a:solidFill>
                        <a:srgbClr val="6B7280"/>
                      </a:solidFill>
                    </a:lnT>
                    <a:lnB w="6350">
                      <a:solidFill>
                        <a:srgbClr val="6B7280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1473200">
                <a:tc>
                  <a:txBody>
                    <a:bodyPr lIns="91440" tIns="45720" rIns="91440" bIns="45720" anchor="ctr"/>
                    <a:lstStyle/>
                    <a:p>
                      <a:pPr lvl="0" algn="l">
                        <a:buNone/>
                      </a:pPr>
                      <a:r>
                        <a:rPr lang="fr-FR" sz="1100" b="0" i="0">
                          <a:solidFill>
                            <a:srgbClr val="111827"/>
                          </a:solidFill>
                          <a:latin typeface="Inter"/>
                          <a:ea typeface="Inter"/>
                          <a:cs typeface="Inter"/>
                        </a:rPr>
                        <a:t>A-002</a:t>
                      </a:r>
                    </a:p>
                  </a:txBody>
                  <a:tcPr anchor="ctr">
                    <a:lnL w="6350">
                      <a:solidFill>
                        <a:srgbClr val="6B7280"/>
                      </a:solidFill>
                    </a:lnL>
                    <a:lnR w="6350">
                      <a:solidFill>
                        <a:srgbClr val="6B7280"/>
                      </a:solidFill>
                    </a:lnR>
                    <a:lnT w="6350">
                      <a:solidFill>
                        <a:srgbClr val="6B7280"/>
                      </a:solidFill>
                    </a:lnT>
                    <a:lnB w="6350">
                      <a:solidFill>
                        <a:srgbClr val="6B72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1440" tIns="45720" rIns="91440" bIns="45720" anchor="ctr"/>
                    <a:lstStyle/>
                    <a:p>
                      <a:pPr lvl="0" algn="l">
                        <a:buNone/>
                      </a:pPr>
                      <a:r>
                        <a:rPr lang="fr-FR" sz="1100" b="0" i="0">
                          <a:solidFill>
                            <a:srgbClr val="111827"/>
                          </a:solidFill>
                          <a:latin typeface="Inter"/>
                          <a:ea typeface="Inter"/>
                          <a:cs typeface="Inter"/>
                        </a:rPr>
                        <a:t>Câble USB</a:t>
                      </a:r>
                    </a:p>
                  </a:txBody>
                  <a:tcPr anchor="ctr">
                    <a:lnL w="6350">
                      <a:solidFill>
                        <a:srgbClr val="6B7280"/>
                      </a:solidFill>
                    </a:lnL>
                    <a:lnR w="6350">
                      <a:solidFill>
                        <a:srgbClr val="6B7280"/>
                      </a:solidFill>
                    </a:lnR>
                    <a:lnT w="6350">
                      <a:solidFill>
                        <a:srgbClr val="6B7280"/>
                      </a:solidFill>
                    </a:lnT>
                    <a:lnB w="6350">
                      <a:solidFill>
                        <a:srgbClr val="6B72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1440" tIns="45720" rIns="91440" bIns="45720" anchor="ctr"/>
                    <a:lstStyle/>
                    <a:p>
                      <a:pPr lvl="0" algn="l">
                        <a:buNone/>
                      </a:pPr>
                      <a:r>
                        <a:rPr lang="fr-FR" sz="1100" b="0" i="0">
                          <a:solidFill>
                            <a:srgbClr val="111827"/>
                          </a:solidFill>
                          <a:latin typeface="Inter"/>
                          <a:ea typeface="Inter"/>
                          <a:cs typeface="Inter"/>
                        </a:rPr>
                        <a:t>1.00</a:t>
                      </a:r>
                    </a:p>
                  </a:txBody>
                  <a:tcPr anchor="ctr">
                    <a:lnL w="6350">
                      <a:solidFill>
                        <a:srgbClr val="6B7280"/>
                      </a:solidFill>
                    </a:lnL>
                    <a:lnR w="6350">
                      <a:solidFill>
                        <a:srgbClr val="6B7280"/>
                      </a:solidFill>
                    </a:lnR>
                    <a:lnT w="6350">
                      <a:solidFill>
                        <a:srgbClr val="6B7280"/>
                      </a:solidFill>
                    </a:lnT>
                    <a:lnB w="6350">
                      <a:solidFill>
                        <a:srgbClr val="6B72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473200">
                <a:tc>
                  <a:txBody>
                    <a:bodyPr lIns="91440" tIns="45720" rIns="91440" bIns="45720" anchor="ctr"/>
                    <a:lstStyle/>
                    <a:p>
                      <a:pPr lvl="0" algn="l">
                        <a:buNone/>
                      </a:pPr>
                      <a:r>
                        <a:rPr lang="fr-FR" sz="1100" b="0" i="0">
                          <a:solidFill>
                            <a:srgbClr val="111827"/>
                          </a:solidFill>
                          <a:latin typeface="Inter"/>
                          <a:ea typeface="Inter"/>
                          <a:cs typeface="Inter"/>
                        </a:rPr>
                        <a:t>A-003</a:t>
                      </a:r>
                    </a:p>
                  </a:txBody>
                  <a:tcPr anchor="ctr">
                    <a:lnL w="6350">
                      <a:solidFill>
                        <a:srgbClr val="6B7280"/>
                      </a:solidFill>
                    </a:lnL>
                    <a:lnR w="6350">
                      <a:solidFill>
                        <a:srgbClr val="6B7280"/>
                      </a:solidFill>
                    </a:lnR>
                    <a:lnT w="6350">
                      <a:solidFill>
                        <a:srgbClr val="6B7280"/>
                      </a:solidFill>
                    </a:lnT>
                    <a:lnB w="6350">
                      <a:solidFill>
                        <a:srgbClr val="6B7280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 lIns="91440" tIns="45720" rIns="91440" bIns="45720" anchor="ctr"/>
                    <a:lstStyle/>
                    <a:p>
                      <a:pPr lvl="0" algn="l">
                        <a:buNone/>
                      </a:pPr>
                      <a:r>
                        <a:rPr lang="fr-FR" sz="1100" b="0" i="0">
                          <a:solidFill>
                            <a:srgbClr val="111827"/>
                          </a:solidFill>
                          <a:latin typeface="Inter"/>
                          <a:ea typeface="Inter"/>
                          <a:cs typeface="Inter"/>
                        </a:rPr>
                        <a:t>Chargeur</a:t>
                      </a:r>
                    </a:p>
                  </a:txBody>
                  <a:tcPr anchor="ctr">
                    <a:lnL w="6350">
                      <a:solidFill>
                        <a:srgbClr val="6B7280"/>
                      </a:solidFill>
                    </a:lnL>
                    <a:lnR w="6350">
                      <a:solidFill>
                        <a:srgbClr val="6B7280"/>
                      </a:solidFill>
                    </a:lnR>
                    <a:lnT w="6350">
                      <a:solidFill>
                        <a:srgbClr val="6B7280"/>
                      </a:solidFill>
                    </a:lnT>
                    <a:lnB w="6350">
                      <a:solidFill>
                        <a:srgbClr val="6B7280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 lIns="91440" tIns="45720" rIns="91440" bIns="45720" anchor="ctr"/>
                    <a:lstStyle/>
                    <a:p>
                      <a:pPr lvl="0" algn="l">
                        <a:buNone/>
                      </a:pPr>
                      <a:r>
                        <a:rPr lang="fr-FR" sz="1100" b="0" i="0">
                          <a:solidFill>
                            <a:srgbClr val="111827"/>
                          </a:solidFill>
                          <a:latin typeface="Inter"/>
                          <a:ea typeface="Inter"/>
                          <a:cs typeface="Inter"/>
                        </a:rPr>
                        <a:t>2.00</a:t>
                      </a:r>
                    </a:p>
                  </a:txBody>
                  <a:tcPr anchor="ctr">
                    <a:lnL w="6350">
                      <a:solidFill>
                        <a:srgbClr val="6B7280"/>
                      </a:solidFill>
                    </a:lnL>
                    <a:lnR w="6350">
                      <a:solidFill>
                        <a:srgbClr val="6B7280"/>
                      </a:solidFill>
                    </a:lnR>
                    <a:lnT w="6350">
                      <a:solidFill>
                        <a:srgbClr val="6B7280"/>
                      </a:solidFill>
                    </a:lnT>
                    <a:lnB w="6350">
                      <a:solidFill>
                        <a:srgbClr val="6B7280"/>
                      </a:solidFill>
                    </a:lnB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</p:spTree>
  </p:cSld>
  <p:clrMapOvr>
    <a:masterClrMapping xmlns:a="http://schemas.openxmlformats.org/drawingml/2006/main"/>
  </p:clrMapOvr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5" name="Head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457200" cy="38100"/>
          </a:xfrm>
          <a:prstGeom xmlns:a="http://schemas.openxmlformats.org/drawingml/2006/main" prst="rect"/>
          <a:solidFill xmlns:a="http://schemas.openxmlformats.org/drawingml/2006/main">
            <a:srgbClr val="B4530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1026" name="Header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277600" cy="6858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2400" b="1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Tendance hebdomadaire</a:t>
            </a:r>
          </a:p>
        </p:txBody>
      </p:sp>
      <p:graphicFrame>
        <p:nvGraphicFramePr>
          <p:cNvPr id="1027" name="Chart"/>
          <p:cNvGraphicFramePr>
            <a:graphicFrameLocks xmlns:a="http://schemas.openxmlformats.org/drawingml/2006/main" noGrp="1"/>
          </p:cNvGraphicFramePr>
          <p:nvPr/>
        </p:nvGraphicFramePr>
        <p:xfrm>
          <a:off xmlns:a="http://schemas.openxmlformats.org/drawingml/2006/main" x="457200" y="1238250"/>
          <a:ext xmlns:a="http://schemas.openxmlformats.org/drawingml/2006/main" cx="11277600" cy="4762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4b2985d26b64bf9"/>
          </a:graphicData>
        </a:graphic>
      </p:graphicFrame>
    </p:spTree>
  </p:cSld>
  <p:clrMapOvr>
    <a:masterClrMapping xmlns:a="http://schemas.openxmlformats.org/drawingml/2006/main"/>
  </p:clrMapOvr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9" name="Head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457200" cy="38100"/>
          </a:xfrm>
          <a:prstGeom xmlns:a="http://schemas.openxmlformats.org/drawingml/2006/main" prst="rect"/>
          <a:solidFill xmlns:a="http://schemas.openxmlformats.org/drawingml/2006/main">
            <a:srgbClr val="B4530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1030" name="Header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277600" cy="6858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2400" b="1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Analyse du stock</a:t>
            </a:r>
          </a:p>
        </p:txBody>
      </p:sp>
      <p:sp>
        <p:nvSpPr>
          <p:cNvPr id="1031" name="MarkdownBod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11277600" cy="49530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2400" b="1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Analyse du stock</a:t>
            </a:r>
          </a:p>
          <a:p xmlns:a="http://schemas.openxmlformats.org/drawingml/2006/main">
            <a:endParaRPr lang="fr-FR"/>
          </a:p>
          <a:p xmlns:a="http://schemas.openxmlformats.org/drawingml/2006/main">
            <a:pPr lvl="0" algn="l">
              <a:buNone/>
            </a:pPr>
            <a:r>
              <a:rPr lang="fr-FR" sz="1400" b="0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Voici les principaux indicateurs :</a:t>
            </a:r>
          </a:p>
          <a:p xmlns:a="http://schemas.openxmlformats.org/drawingml/2006/main">
            <a:endParaRPr lang="fr-FR"/>
          </a:p>
          <a:p xmlns:a="http://schemas.openxmlformats.org/drawingml/2006/main">
            <a:pPr lvl="0" algn="l">
              <a:buFont typeface="Arial"/>
              <a:buChar char="•"/>
            </a:pPr>
            <a:r>
              <a:rPr lang="fr-FR" sz="1400" b="1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Articles actifs</a:t>
            </a:r>
            <a:r>
              <a:rPr lang="fr-FR" sz="1400" b="0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 : 1 240</a:t>
            </a:r>
          </a:p>
          <a:p xmlns:a="http://schemas.openxmlformats.org/drawingml/2006/main">
            <a:pPr lvl="0" algn="l">
              <a:buFont typeface="Arial"/>
              <a:buChar char="•"/>
            </a:pPr>
            <a:r>
              <a:rPr lang="fr-FR" sz="1400" b="1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Articles en rupture</a:t>
            </a:r>
            <a:r>
              <a:rPr lang="fr-FR" sz="1400" b="0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 : 38</a:t>
            </a:r>
          </a:p>
          <a:p xmlns:a="http://schemas.openxmlformats.org/drawingml/2006/main">
            <a:pPr lvl="0" algn="l">
              <a:buFont typeface="Arial"/>
              <a:buChar char="•"/>
            </a:pPr>
            <a:r>
              <a:rPr lang="fr-FR" sz="1400" b="0" i="1">
                <a:solidFill>
                  <a:srgbClr val="111827"/>
                </a:solidFill>
                <a:latin typeface="Inter"/>
                <a:ea typeface="Inter"/>
                <a:cs typeface="Inter"/>
              </a:rPr>
              <a:t>Articles à reapprovisionner</a:t>
            </a:r>
            <a:r>
              <a:rPr lang="fr-FR" sz="1400" b="0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 : 92</a:t>
            </a:r>
          </a:p>
          <a:p xmlns:a="http://schemas.openxmlformats.org/drawingml/2006/main">
            <a:endParaRPr lang="fr-FR"/>
          </a:p>
          <a:p xmlns:a="http://schemas.openxmlformats.org/drawingml/2006/main">
            <a:endParaRPr lang="fr-FR"/>
          </a:p>
          <a:p xmlns:a="http://schemas.openxmlformats.org/drawingml/2006/main">
            <a:endParaRPr lang="fr-FR"/>
          </a:p>
          <a:p xmlns:a="http://schemas.openxmlformats.org/drawingml/2006/main">
            <a:pPr lvl="0" algn="l">
              <a:buNone/>
            </a:pPr>
            <a:r>
              <a:rPr lang="fr-FR" sz="1400" b="0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Recommandations : passer une commande urgente pour les SKU ci-dessus.</a:t>
            </a:r>
          </a:p>
        </p:txBody>
      </p:sp>
    </p:spTree>
  </p:cSld>
  <p:clrMapOvr>
    <a:masterClrMapping xmlns:a="http://schemas.openxmlformats.org/drawingml/2006/main"/>
  </p:clrMapOvr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32" name="Head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457200" cy="38100"/>
          </a:xfrm>
          <a:prstGeom xmlns:a="http://schemas.openxmlformats.org/drawingml/2006/main" prst="rect"/>
          <a:solidFill xmlns:a="http://schemas.openxmlformats.org/drawingml/2006/main">
            <a:srgbClr val="B4530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1033" name="Header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277600" cy="6858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2400" b="1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Sources et outils</a:t>
            </a:r>
          </a:p>
        </p:txBody>
      </p:sp>
      <p:sp>
        <p:nvSpPr>
          <p:cNvPr id="1034" name="SourcesBod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11277600" cy="49530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1400" b="1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01.  Analyse du stock</a:t>
            </a:r>
          </a:p>
          <a:p xmlns:a="http://schemas.openxmlformats.org/drawingml/2006/main">
            <a:pPr lvl="0" algn="l">
              <a:buNone/>
            </a:pPr>
            <a:r>
              <a:rPr lang="fr-FR" sz="1100" b="0" i="0">
                <a:solidFill>
                  <a:srgbClr val="6B7280"/>
                </a:solidFill>
                <a:latin typeface="Inter"/>
                <a:ea typeface="Inter"/>
                <a:cs typeface="Inter"/>
              </a:rPr>
              <a:t>    Outils utilisés : list_inventory</a:t>
            </a:r>
          </a:p>
          <a:p xmlns:a="http://schemas.openxmlformats.org/drawingml/2006/main">
            <a:endParaRPr lang="fr-FR"/>
          </a:p>
        </p:txBody>
      </p:sp>
    </p:spTree>
  </p:cSld>
  <p:clrMapOvr>
    <a:masterClrMapping xmlns:a="http://schemas.openxmlformats.org/drawingml/2006/main"/>
  </p:clrMapOvr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36" name="Head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457200" cy="38100"/>
          </a:xfrm>
          <a:prstGeom xmlns:a="http://schemas.openxmlformats.org/drawingml/2006/main" prst="rect"/>
          <a:solidFill xmlns:a="http://schemas.openxmlformats.org/drawingml/2006/main">
            <a:srgbClr val="B4530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1037" name="Header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277600" cy="6858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2400" b="1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Annexe — Transcript brut</a:t>
            </a:r>
          </a:p>
        </p:txBody>
      </p:sp>
      <p:sp>
        <p:nvSpPr>
          <p:cNvPr id="1038" name="AppendixBod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11277600" cy="49530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1300" b="0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Le transcript intégral des réponses sélectionnées est accessible dans les notes du présentateur.</a:t>
            </a:r>
          </a:p>
          <a:p xmlns:a="http://schemas.openxmlformats.org/drawingml/2006/main">
            <a:endParaRPr lang="fr-FR"/>
          </a:p>
          <a:p xmlns:a="http://schemas.openxmlformats.org/drawingml/2006/main">
            <a:pPr lvl="0" algn="l">
              <a:buNone/>
            </a:pPr>
            <a:r>
              <a:rPr lang="fr-FR" sz="1100" b="0" i="0">
                <a:solidFill>
                  <a:srgbClr val="6B7280"/>
                </a:solidFill>
                <a:latin typeface="Inter"/>
                <a:ea typeface="Inter"/>
                <a:cs typeface="Inter"/>
              </a:rPr>
              <a:t>• 01. Analyse du stock</a:t>
            </a:r>
          </a:p>
        </p:txBody>
      </p:sp>
    </p:spTree>
  </p:cSld>
  <p:clrMapOvr>
    <a:masterClrMapping xmlns:a="http://schemas.openxmlformats.org/drawingml/2006/main"/>
  </p:clrMapOvr>
</p:sld>
</file>