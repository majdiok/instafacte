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f4d3baa66f542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slide1"/>
    <p:sldId xmlns:r="http://schemas.openxmlformats.org/officeDocument/2006/relationships" id="257" r:id="slide2"/>
    <p:sldId xmlns:r="http://schemas.openxmlformats.org/officeDocument/2006/relationships" id="258" r:id="slide3"/>
    <p:sldId xmlns:r="http://schemas.openxmlformats.org/officeDocument/2006/relationships" id="259" r:id="slide4"/>
    <p:sldId xmlns:r="http://schemas.openxmlformats.org/officeDocument/2006/relationships" id="260" r:id="slide5"/>
    <p:sldId xmlns:r="http://schemas.openxmlformats.org/officeDocument/2006/relationships" id="261" r:id="slide6"/>
    <p:sldId xmlns:r="http://schemas.openxmlformats.org/officeDocument/2006/relationships" id="262" r:id="slide7"/>
    <p:sldId xmlns:r="http://schemas.openxmlformats.org/officeDocument/2006/relationships" id="263" r:id="slide8"/>
    <p:sldId xmlns:r="http://schemas.openxmlformats.org/officeDocument/2006/relationships" id="264" r:id="slide9"/>
  </p:sldIdLst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slide1" /><Relationship Type="http://schemas.openxmlformats.org/officeDocument/2006/relationships/slide" Target="/ppt/slides/slide2.xml" Id="slide2" /><Relationship Type="http://schemas.openxmlformats.org/officeDocument/2006/relationships/slide" Target="/ppt/slides/slide3.xml" Id="slide3" /><Relationship Type="http://schemas.openxmlformats.org/officeDocument/2006/relationships/slide" Target="/ppt/slides/slide4.xml" Id="slide4" /><Relationship Type="http://schemas.openxmlformats.org/officeDocument/2006/relationships/slide" Target="/ppt/slides/slide5.xml" Id="slide5" /><Relationship Type="http://schemas.openxmlformats.org/officeDocument/2006/relationships/slide" Target="/ppt/slides/slide6.xml" Id="slide6" /><Relationship Type="http://schemas.openxmlformats.org/officeDocument/2006/relationships/slide" Target="/ppt/slides/slide7.xml" Id="slide7" /><Relationship Type="http://schemas.openxmlformats.org/officeDocument/2006/relationships/slide" Target="/ppt/slides/slide8.xml" Id="slide8" /><Relationship Type="http://schemas.openxmlformats.org/officeDocument/2006/relationships/slide" Target="/ppt/slides/slide9.xml" Id="slid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8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Réponse exportée depuis l'Assistant IA FactuTrust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2acbc3f1-f31b-4702-ac5d-2599ade247ad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1d87ecf4-84ea-4891-86ab-f3b011c8e3e5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Page : 1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Outils utilisés : list_inventory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5" name="Notes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8229600" cy="5943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### 01.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Conversation : 2acbc3f1-f31b-4702-ac5d-2599ade247ad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Message : 1d87ecf4-84ea-4891-86ab-f3b011c8e3e5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# Analyse du stock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actifs** : 1 240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**Articles en rupture** : 38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- *Articles à reapprovisionner* : 92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
</a:t>
            </a:r>
          </a:p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/>
            </a:r>
          </a:p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theme" Target="/ppt/slideMasters/theme/theme1.xml" Id="rIdTheme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</p:sldMaster>
</file>

<file path=ppt/slideMasters/theme/theme1.xml><?xml version="1.0" encoding="utf-8"?>
<a:theme xmlns:a="http://schemas.openxmlformats.org/drawingml/2006/main" name="FactuTrust">
  <a:themeElements>
    <a:clrScheme name="FactuTrust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F59E0B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slides/charts/chart1.xml" Id="Ra32903fe6b5e45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ae8a2e6080f447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.xml" Id="Rd8397e35d0bf4031" /></Relationships>
</file>

<file path=ppt/slides/charts/chart1.xml><?xml version="1.0" encoding="utf-8"?>
<c:chartSpace xmlns:c="http://schemas.openxmlformats.org/drawingml/2006/chart">
  <c:lang val="fr-TN"/>
  <c:chart>
    <c:title>
      <c:tx>
        <c:rich>
          <a:bodyPr xmlns:a="http://schemas.openxmlformats.org/drawingml/2006/main" rot="0" spcFirstLastPara="1" vertOverflow="ellipsis" wrap="square" anchor="ctr" anchorCtr="1"/>
          <a:lstStyle xmlns:a="http://schemas.openxmlformats.org/drawingml/2006/main"/>
          <a:p xmlns:a="http://schemas.openxmlformats.org/drawingml/2006/main">
            <a:pPr/>
            <a:r>
              <a:rPr lang="fr-FR" sz="1600" b="1"/>
              <a:t>Tendance hebdomadaire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ser>
          <c:idx val="0"/>
          <c:order val="0"/>
          <c:tx>
            <c:v>Ruptures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>
              <a:noFill/>
            </a:ln>
          </c:spPr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28</c:v>
                </c:pt>
                <c:pt idx="3">
                  <c:v>38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crossAx val="222222222"/>
      </c:catAx>
      <c:valAx>
        <c:axId val="222222222"/>
        <c:scaling>
          <c:orientation val="minMax"/>
        </c:scaling>
        <c:delete val="0"/>
        <c:axPos val="b"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" name="Cov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2" name="Cov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3" name="Cov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1524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5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Smoke — Standard/Standard4x3</a:t>
            </a:r>
          </a:p>
        </p:txBody>
      </p:sp>
      <p:sp>
        <p:nvSpPr>
          <p:cNvPr id="1004" name="CoverFoot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8229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FactuTrust • 21 mai 2026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Agenda</a:t>
            </a:r>
          </a:p>
        </p:txBody>
      </p:sp>
      <p:sp>
        <p:nvSpPr>
          <p:cNvPr id="1007" name="Agenda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000" b="1" i="0">
                <a:solidFill>
                  <a:srgbClr val="2563EB"/>
                </a:solidFill>
                <a:latin typeface="Inter"/>
                <a:ea typeface="Inter"/>
                <a:cs typeface="Inter"/>
              </a:rPr>
              <a:t>01.  </a:t>
            </a:r>
            <a:r>
              <a:rPr lang="fr-FR" sz="20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" name="Section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09" name="Section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381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2563EB"/>
                </a:solidFill>
                <a:latin typeface="Inter"/>
                <a:ea typeface="Inter"/>
                <a:cs typeface="Inter"/>
              </a:rPr>
              <a:t>Section 01</a:t>
            </a:r>
          </a:p>
        </p:txBody>
      </p:sp>
      <p:sp>
        <p:nvSpPr>
          <p:cNvPr id="1010" name="Section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8229600" cy="17145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4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11" name="SectionAcc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14400" cy="5715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 — Indicateurs clés</a:t>
            </a:r>
          </a:p>
        </p:txBody>
      </p:sp>
      <p:sp>
        <p:nvSpPr>
          <p:cNvPr id="1014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5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Articles actifs</a:t>
            </a:r>
          </a:p>
        </p:txBody>
      </p:sp>
      <p:sp>
        <p:nvSpPr>
          <p:cNvPr id="1016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1 240,00 items</a:t>
            </a:r>
          </a:p>
        </p:txBody>
      </p:sp>
      <p:sp>
        <p:nvSpPr>
          <p:cNvPr id="1017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059669"/>
                </a:solidFill>
                <a:latin typeface="Inter"/>
                <a:ea typeface="Inter"/>
                <a:cs typeface="Inter"/>
              </a:rPr>
              <a:t>+2,4 %</a:t>
            </a:r>
          </a:p>
        </p:txBody>
      </p:sp>
      <p:sp>
        <p:nvSpPr>
          <p:cNvPr id="1018" name="KpiCar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43000"/>
            <a:ext cx="4038600" cy="4953000"/>
          </a:xfrm>
          <a:prstGeom xmlns:a="http://schemas.openxmlformats.org/drawingml/2006/main" prst="rect"/>
          <a:solidFill xmlns:a="http://schemas.openxmlformats.org/drawingml/2006/main">
            <a:srgbClr val="F8FAF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133350" rIns="152400" bIns="133350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19" name="KpiLabel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333500"/>
            <a:ext cx="3657600" cy="2667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2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Ruptures</a:t>
            </a:r>
          </a:p>
        </p:txBody>
      </p:sp>
      <p:sp>
        <p:nvSpPr>
          <p:cNvPr id="1020" name="KpiValu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638300"/>
            <a:ext cx="3657600" cy="66675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3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38,00</a:t>
            </a:r>
          </a:p>
        </p:txBody>
      </p:sp>
      <p:sp>
        <p:nvSpPr>
          <p:cNvPr id="1021" name="KpiTre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72150"/>
            <a:ext cx="3657600" cy="2286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100" b="1" i="0">
                <a:solidFill>
                  <a:srgbClr val="DC2626"/>
                </a:solidFill>
                <a:latin typeface="Inter"/>
                <a:ea typeface="Inter"/>
                <a:cs typeface="Inter"/>
              </a:rPr>
              <a:t>-12,5 %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Top 3 ruptures</a:t>
            </a:r>
          </a:p>
        </p:txBody>
      </p:sp>
      <p:graphicFrame>
        <p:nvGraphicFramePr>
          <p:cNvPr id="1024" name="Data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SKU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Article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200" b="1" i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</a:rPr>
                        <a:t>Quantité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0F172A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A-001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Ampoule LED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0.00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A-002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Câble USB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1.00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473200"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A-003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Chargeur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91440" tIns="45720" rIns="91440" bIns="45720" anchor="ctr"/>
                    <a:lstStyle/>
                    <a:p>
                      <a:pPr lvl="0" algn="l">
                        <a:buNone/>
                      </a:pPr>
                      <a:r>
                        <a:rPr lang="fr-FR" sz="1100" b="0" i="0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</a:rPr>
                        <a:t>2.00</a:t>
                      </a:r>
                    </a:p>
                  </a:txBody>
                  <a:tcPr anchor="ctr"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5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26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Tendance hebdomadaire</a:t>
            </a:r>
          </a:p>
        </p:txBody>
      </p:sp>
      <p:graphicFrame>
        <p:nvGraphicFramePr>
          <p:cNvPr id="1027" name="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457200" y="12382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2903fe6b5e4547"/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9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0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</p:txBody>
      </p:sp>
      <p:sp>
        <p:nvSpPr>
          <p:cNvPr id="1031" name="Markdown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Analyse du stock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Voici les principaux indicateurs :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actifs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1 240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en rupture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38</a:t>
            </a:r>
          </a:p>
          <a:p xmlns:a="http://schemas.openxmlformats.org/drawingml/2006/main">
            <a:pPr lvl="0" algn="l">
              <a:buFont typeface="Arial"/>
              <a:buChar char="•"/>
            </a:pPr>
            <a:r>
              <a:rPr lang="fr-FR" sz="1400" b="0" i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Articles à reapprovisionner</a:t>
            </a: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 : 92</a:t>
            </a:r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4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Recommandations : passer une commande urgente pour les SKU ci-dessus.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2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3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Sources et outils</a:t>
            </a:r>
          </a:p>
        </p:txBody>
      </p:sp>
      <p:sp>
        <p:nvSpPr>
          <p:cNvPr id="1034" name="Sources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01.  Analyse du stock</a:t>
            </a:r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    Outils utilisés : list_inventory</a:t>
            </a:r>
          </a:p>
          <a:p xmlns:a="http://schemas.openxmlformats.org/drawingml/2006/main">
            <a:endParaRPr lang="fr-FR"/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6" name="Head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57200" cy="38100"/>
          </a:xfrm>
          <a:prstGeom xmlns:a="http://schemas.openxmlformats.org/drawingml/2006/main" prst="rect"/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1037" name="Header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8229600" cy="6858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2400" b="1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Annexe — Transcript brut</a:t>
            </a:r>
          </a:p>
        </p:txBody>
      </p:sp>
      <p:sp>
        <p:nvSpPr>
          <p:cNvPr id="1038" name="AppendixBody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8229600" cy="4953000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lang="fr-FR" sz="1300" b="0" i="0">
                <a:solidFill>
                  <a:srgbClr val="0F172A"/>
                </a:solidFill>
                <a:latin typeface="Inter"/>
                <a:ea typeface="Inter"/>
                <a:cs typeface="Inter"/>
              </a:rPr>
              <a:t>Le transcript intégral des réponses sélectionnées est accessible dans les notes du présentateur.</a:t>
            </a:r>
          </a:p>
          <a:p xmlns:a="http://schemas.openxmlformats.org/drawingml/2006/main">
            <a:endParaRPr lang="fr-FR"/>
          </a:p>
          <a:p xmlns:a="http://schemas.openxmlformats.org/drawingml/2006/main">
            <a:pPr lvl="0" algn="l">
              <a:buNone/>
            </a:pPr>
            <a:r>
              <a:rPr lang="fr-FR" sz="1100" b="0" i="0">
                <a:solidFill>
                  <a:srgbClr val="94A3B8"/>
                </a:solidFill>
                <a:latin typeface="Inter"/>
                <a:ea typeface="Inter"/>
                <a:cs typeface="Inter"/>
              </a:rPr>
              <a:t>• 01. Analyse du stock</a:t>
            </a:r>
          </a:p>
        </p:txBody>
      </p:sp>
    </p:spTree>
  </p:cSld>
  <p:clrMapOvr>
    <a:masterClrMapping xmlns:a="http://schemas.openxmlformats.org/drawingml/2006/main"/>
  </p:clrMapOvr>
</p:sld>
</file>