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Maturité actuelle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PME commerce TN</c:v>
                </c:pt>
                <c:pt idx="1">
                  <c:v>Distribution / grossiste</c:v>
                </c:pt>
                <c:pt idx="2">
                  <c:v>Retail multi-magasins</c:v>
                </c:pt>
                <c:pt idx="3">
                  <c:v>PME industrielle</c:v>
                </c:pt>
                <c:pt idx="4">
                  <c:v>ESN / services</c:v>
                </c:pt>
                <c:pt idx="5">
                  <c:v>Groupe multi-sociétés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2.5</c:v>
                </c:pt>
                <c:pt idx="2">
                  <c:v>2.0</c:v>
                </c:pt>
                <c:pt idx="3">
                  <c:v>1.2</c:v>
                </c:pt>
                <c:pt idx="4">
                  <c:v>1.5</c:v>
                </c:pt>
                <c:pt idx="5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Cible Phase 1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PME commerce TN</c:v>
                </c:pt>
                <c:pt idx="1">
                  <c:v>Distribution / grossiste</c:v>
                </c:pt>
                <c:pt idx="2">
                  <c:v>Retail multi-magasins</c:v>
                </c:pt>
                <c:pt idx="3">
                  <c:v>PME industrielle</c:v>
                </c:pt>
                <c:pt idx="4">
                  <c:v>ESN / services</c:v>
                </c:pt>
                <c:pt idx="5">
                  <c:v>Groupe multi-sociétés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4.5</c:v>
                </c:pt>
                <c:pt idx="1">
                  <c:v>4.0</c:v>
                </c:pt>
                <c:pt idx="2">
                  <c:v>3.5</c:v>
                </c:pt>
                <c:pt idx="3">
                  <c:v>1.5</c:v>
                </c:pt>
                <c:pt idx="4">
                  <c:v>2.0</c:v>
                </c:pt>
                <c:pt idx="5">
                  <c:v>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Effort (j/h)</c:v>
                </c:pt>
              </c:strCache>
            </c:strRef>
          </c:tx>
          <c:spPr>
            <a:solidFill>
              <a:srgbClr val="0EA5A0"/>
            </a:solidFill>
          </c:spPr>
          <c:cat>
            <c:strRef>
              <c:f>Sheet1!$A$2:$A$5</c:f>
              <c:strCache>
                <c:ptCount val="4"/>
                <c:pt idx="0">
                  <c:v>Phase 1
Commerce TN</c:v>
                </c:pt>
                <c:pt idx="1">
                  <c:v>Phase 2
Services</c:v>
                </c:pt>
                <c:pt idx="2">
                  <c:v>Phase 3
Industrie</c:v>
                </c:pt>
                <c:pt idx="3">
                  <c:v>Phase 4
Groupe &amp; RH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680</c:v>
                </c:pt>
                <c:pt idx="2">
                  <c:v>415</c:v>
                </c:pt>
                <c:pt idx="3">
                  <c:v>695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A5A0"/>
                </a:solidFill>
                <a:latin typeface="Calibri"/>
              </a:defRPr>
            </a:pPr>
            <a:r>
              <a:t>FACTUTRUST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Analyse des écarts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Modules &amp; fonctionnalités pour devenir un ERP crédible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B1F3A"/>
                </a:solidFill>
                <a:latin typeface="Calibri"/>
              </a:defRPr>
            </a:pPr>
            <a:r>
              <a:t>De la gestion commerciale avancée à l'ERP intelligent des PME tunisiennes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B1F3A"/>
                </a:solidFill>
                <a:latin typeface="Calibri"/>
              </a:defRPr>
            </a:pPr>
            <a:r>
              <a:t>Comité Produit · 23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Synthèse exécutive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FactuTrust = PGI avancé, pas encore ERP complet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974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EA5A0"/>
                </a:solidFill>
                <a:latin typeface="Calibri"/>
              </a:defRPr>
            </a:pPr>
            <a:r>
              <a:t>3,0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Maturité ERP</a:t>
            </a:r>
            <a:br/>
            <a:r>
              <a:t>PME commerce TN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26974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EA5A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Modules licenciés</a:t>
            </a:r>
            <a:br/>
            <a:r>
              <a:t>implémentés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26974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EA5A0"/>
                </a:solidFill>
                <a:latin typeface="Calibri"/>
              </a:defRPr>
            </a:pPr>
            <a:r>
              <a:t>~420 j/h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Phase 1</a:t>
            </a:r>
            <a:br/>
            <a:r>
              <a:t>ERP commercial TN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25880"/>
            <a:ext cx="26974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EA5A0"/>
                </a:solidFill>
                <a:latin typeface="Calibri"/>
              </a:defRPr>
            </a:pPr>
            <a:r>
              <a:t>~2 810 j/h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05740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ERP complet</a:t>
            </a:r>
            <a:br/>
            <a:r>
              <a:t>mid-market (24–36 mois)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Couverture solide : vente → achat → stock → trésorerie → comptabilité + TEJ + IA + prévisions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Positionnement recommandé : « ERP commercial intelligent Tunisie » avant ERP généraliste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Gaps critiques P0 : TTN bout-en-bout, POS enterprise, listes de prix, lots/séries, API publique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Gaps structurels : RH/paie, production/MRP, projets, immobilisations, consolidation groupe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Maturité ERP par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Échelle 0–5 · Analyse codebase mai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234440"/>
          <a:ext cx="7498079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417320"/>
            <a:ext cx="34290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002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Lecture clé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Fort sur le cycle commercial tunisien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Phase 1 adresse 80 % des PME commerce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Industrie &amp; groupe = phases 3–4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RH/paie = prérequis 50+ salariés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Modules existants — socle solide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13 AppModule + extensions hors catalogue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11880" cy="4892040"/>
          </a:xfrm>
          <a:prstGeom prst="rect">
            <a:avLst/>
          </a:prstGeom>
          <a:solidFill>
            <a:srgbClr val="CC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Calibri"/>
              </a:defRPr>
            </a:pPr>
            <a:r>
              <a:t>✅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3246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Clients &amp; Produits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Ventes (devis, BL, factures)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Achats &amp; PO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Stock multi-entrepôts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Trésorerie &amp; banque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Comptabilité (13 écrans)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11880" cy="4892040"/>
          </a:xfrm>
          <a:prstGeom prst="rect">
            <a:avLst/>
          </a:prstGeom>
          <a:solidFill>
            <a:srgbClr val="CC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Calibri"/>
              </a:defRPr>
            </a:pPr>
            <a:r>
              <a:t>✅ Différenciation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246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Fiscal TEJ natif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CRM pipeline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Rapports (18+ endpoints)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Assistant IA + OCR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Prévisions &amp; réappro V2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Backoffice SaaS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280160"/>
            <a:ext cx="3611880" cy="4892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Calibri"/>
              </a:defRPr>
            </a:pPr>
            <a:r>
              <a:t>⚠️ Partiel / hors catalogue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74519"/>
            <a:ext cx="3246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POS (UI ok, API in-memory)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Virtual Street e-commerce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ChannelGateway (stub)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Multi-émetteur léger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Champs TTN (sans connecteur)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Docs utilisateur incomplètes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Modules ERP absents ou incomplets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Écart vs référentiel Gartner / Odoo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Domaine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9903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39903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Effort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39903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cible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280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RH &amp; Paie (HCM)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928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Absent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9280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~515 j/h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8928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41448"/>
            <a:ext cx="111556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5117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Production &amp; MRP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5117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Absent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5117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~415 j/h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55117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99816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09544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Projets &amp; PSA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20954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Absent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09544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~280 j/h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20954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58184"/>
            <a:ext cx="111556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86791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Immobilisations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86791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Absent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86791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~180 j/h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86791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16552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WMS avancé (lots, WMS)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526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⚠️ Partiel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5262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~345 j/h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526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111556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1846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BI &amp; consolidation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1846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⚠️ Partiel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18464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~355 j/h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1846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Phase 2–4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733288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4301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Intégrations / API publique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84301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⚠️ Partiel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84301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~555 j/h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584301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1 — Priorités P0/P1 immédiates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ERP commercial Tunisie · 6–9 mois · ~420 j/h (P0/P1)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118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A5A0"/>
                </a:solidFill>
                <a:latin typeface="Calibri"/>
              </a:defRPr>
            </a:pPr>
            <a:r>
              <a:t>L1 Conformité 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898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155 j/h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TTN / El Fatoora bout-en-bout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Archivage probatoire 10 ans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Import factures achat TTN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118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8988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A5A0"/>
                </a:solidFill>
                <a:latin typeface="Calibri"/>
              </a:defRPr>
            </a:pPr>
            <a:r>
              <a:t>L2 Retail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3898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110 j/h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POS enterprise (caisses, clôtures Z)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Persistance EF/Redis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Conformité caisse TN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36118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8988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A5A0"/>
                </a:solidFill>
                <a:latin typeface="Calibri"/>
              </a:defRPr>
            </a:pPr>
            <a:r>
              <a:t>L3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13898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150 j/h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Listes de prix par client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Remises &amp; variantes produit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Références multi-fournisseurs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36118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A5A0"/>
                </a:solidFill>
                <a:latin typeface="Calibri"/>
              </a:defRPr>
            </a:pPr>
            <a:r>
              <a:t>L4 Stock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99592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130 j/h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Traçabilité lots / séries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Dates péremption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Codes-barres &amp; scan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86200"/>
            <a:ext cx="36118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959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A5A0"/>
                </a:solidFill>
                <a:latin typeface="Calibri"/>
              </a:defRPr>
            </a:pPr>
            <a:r>
              <a:t>L5 Pilotage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99592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165 j/h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Comptabilité analytique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Budgets &amp; cash flow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Plafonds crédit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886200"/>
            <a:ext cx="36118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959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A5A0"/>
                </a:solidFill>
                <a:latin typeface="Calibri"/>
              </a:defRPr>
            </a:pPr>
            <a:r>
              <a:t>L6 Plateforme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99592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230 j/h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434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API publique v1 + webhooks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Workflow approbations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Portail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 par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Effort cumulé ~2 810 j/h · équipe 4–6 devs senior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23444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635240" y="1371600"/>
            <a:ext cx="4023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6304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Phase 1 · 6–9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TTN, POS, tarifs, lots, analytique, API, portail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514600"/>
            <a:ext cx="4023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60604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Phase 2 · 9–12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Projets, CRM 360, GED, multi-devises, notes de frais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3657600"/>
            <a:ext cx="4023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74904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Phase 3 · 12–18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BOM, ordres de fabrication, MRP, coûts, qualité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4800600"/>
            <a:ext cx="4023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89204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Phase 4 · 18–36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2120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RH/paie TN, immobilisations, consolidation, BI avancée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Benchmark concurrentiel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PME commerce TN · 5–50 utilisateurs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24128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Capacité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298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FactuTrust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298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Odoo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298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298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Dynamics BC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45920"/>
            <a:ext cx="10241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E-facture / TEJ TN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A5A0"/>
                </a:solidFill>
                <a:latin typeface="Calibri"/>
              </a:defRPr>
            </a:pPr>
            <a:r>
              <a:t>◐ / ●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○ / 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 / 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○ / 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48840"/>
            <a:ext cx="1024128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402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Comptabilité générale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240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51760"/>
            <a:ext cx="10241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7432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Compta analytique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743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743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743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743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54680"/>
            <a:ext cx="1024128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461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Stock &amp; achats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57600"/>
            <a:ext cx="10241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749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Production / MRP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749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749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749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749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60520"/>
            <a:ext cx="1024128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251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RH &amp; Paie TN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251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251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251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251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663440"/>
            <a:ext cx="10241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548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IA &amp; prévisions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754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A5A0"/>
                </a:solidFill>
                <a:latin typeface="Calibri"/>
              </a:defRPr>
            </a:pPr>
            <a:r>
              <a:t>● 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4754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754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754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66360"/>
            <a:ext cx="1024128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257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SaaS multi-tenant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257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A5A0"/>
                </a:solidFill>
                <a:latin typeface="Calibri"/>
              </a:defRPr>
            </a:pPr>
            <a:r>
              <a:t>● 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257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5257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5257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669280"/>
            <a:ext cx="10241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7607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Time-to-value TN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A5A0"/>
                </a:solidFill>
                <a:latin typeface="Calibri"/>
              </a:defRPr>
            </a:pPr>
            <a:r>
              <a:t>★ Rapide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Long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Moyen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5760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Long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★ = avantage différenciant FactuTrust · ● complet · ◐ partiel · ○ absent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Avantages compétitifs FactuTrust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Message produit 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55680" cy="100584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« L'ERP intelligent des entreprises commerciales tunisiennes — conforme, unifié, assisté par IA.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3611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vs Odoo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TEJ natif · IA/prévisions · SaaS TN-first · UX premium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Gap : MRP, paie, marketing, profondeur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514600"/>
            <a:ext cx="3611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vs 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6324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Modernité SaaS · cycle commercial unifié · coût abonnement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Gap : paie certifiée, liasse fiscale, immobilisations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514600"/>
            <a:ext cx="36118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651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vs Dynamics 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Simplicité PME · spécificités TN · time-to-value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Gap : consolidation, écosystème Microsoft, manufacturing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Matrice de décision par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FactuTrust suffit-il aujourd'hui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060704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441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6472" y="13441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Aujourd'hui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2392" y="134416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Gap bloquant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7192" y="13441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10607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196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TPE commerce / facturation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181965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 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181965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TTN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7192" y="181965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350008"/>
            <a:ext cx="106070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47802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PME distribution / grossiste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478024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⚠️ Presque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47802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Lots, tarifs, POS, codes-barres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478024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08376"/>
            <a:ext cx="10607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136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Retail multi-magasins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13639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⚠️ Partiel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31363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POS enterprise, WMS 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313639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Phase 1–2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66744"/>
            <a:ext cx="106070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7947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PME industrielle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3794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❌ Non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2392" y="37947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MRP, BOM, OF, coûts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37947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25112"/>
            <a:ext cx="10607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453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ESN / BTP / conseil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445312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❌ Non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2392" y="445312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Projets, temps, régie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7192" y="445312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983480"/>
            <a:ext cx="106070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51114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Groupe multi-sociétés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511149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❌ Non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2392" y="511149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Consolidation, interco, RH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192" y="511149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641848"/>
            <a:ext cx="10607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576986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Entreprise 50+ salariés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5769864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❌ Non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76986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RH &amp; paie TN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192" y="5769864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Dette produit à traiter en priorité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Éléments partiellement implémentés dans le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POS session in-memory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990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PosSessionController.cs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99032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Persistance EF/Redis + modèle caisse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30552"/>
            <a:ext cx="1115568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03704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ChannelGateway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0370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src/ChannelGateway/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03704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Source Node + webhooks WhatsApp/Telegram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35224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0837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MultiLevelApproval réappro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00837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ForecastingOptions.cs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08376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Activer flag + UI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39896"/>
            <a:ext cx="1115568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130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Email facture fournisseur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8130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CreateSupplierInvoiceFromPOCommand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13048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TODO ligne 139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44568"/>
            <a:ext cx="11155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Documentation utilisateur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6177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docs/utilisateur/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61772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Chapitres compta, CRM, IA, TEJ, POS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49240"/>
            <a:ext cx="11155680" cy="71323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2239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Tests Domain/Application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42239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Solution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22392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A5A0"/>
                </a:solidFill>
                <a:latin typeface="Calibri"/>
              </a:defRPr>
            </a:pPr>
            <a:r>
              <a:t>Projets de tests manquants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Recommandations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F0EE"/>
                </a:solidFill>
                <a:latin typeface="Calibri"/>
              </a:defRPr>
            </a:pPr>
            <a:r>
              <a:t>Décisions comité produit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94360" cy="59436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Valider le segment cible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PME commerce &amp; distribution Tunisie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94360" cy="59436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31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Prioriser le lot TTN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517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Soumission, statuts, archivage — différenciateur n°1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594360" cy="59436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55848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Lancer API publique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11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Prérequis écosystème &amp; intégrateurs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06240"/>
            <a:ext cx="594360" cy="59436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15968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519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Finaliser POS &amp; lots/séries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720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Retail &amp; distribution prêts à vendre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66360"/>
            <a:ext cx="594360" cy="59436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76088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12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Calibri"/>
              </a:defRPr>
            </a:pPr>
            <a:r>
              <a:t>Roadmap formelle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321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Transformer l'analyse en epics Jira/Linear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Option recommandée : ERP commercial intelligent Tunisie (Phase 1) avant ERP généraliste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FactuTrust — Analyse ERP — Mai 2026 — Confidentiel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089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Document détaillé : docs/strategy/erp-gap-analysis.md</a:t>
            </a:r>
            <a:br/>
            <a:r>
              <a:t>Questions &amp; arbitrages : Comité Produit FactuTrust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75488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